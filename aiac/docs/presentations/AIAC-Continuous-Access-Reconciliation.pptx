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76" r:id="rId3"/>
    <p:sldId id="285" r:id="rId4"/>
    <p:sldId id="277" r:id="rId5"/>
    <p:sldId id="278" r:id="rId6"/>
    <p:sldId id="261" r:id="rId7"/>
    <p:sldId id="260" r:id="rId8"/>
    <p:sldId id="262" r:id="rId9"/>
    <p:sldId id="263" r:id="rId10"/>
    <p:sldId id="264" r:id="rId11"/>
    <p:sldId id="265" r:id="rId12"/>
    <p:sldId id="266" r:id="rId13"/>
    <p:sldId id="287" r:id="rId14"/>
    <p:sldId id="268" r:id="rId15"/>
    <p:sldId id="269" r:id="rId16"/>
    <p:sldId id="270" r:id="rId17"/>
    <p:sldId id="271" r:id="rId18"/>
    <p:sldId id="286" r:id="rId19"/>
    <p:sldId id="274" r:id="rId20"/>
    <p:sldId id="284" r:id="rId21"/>
    <p:sldId id="275" r:id="rId22"/>
    <p:sldId id="272" r:id="rId23"/>
    <p:sldId id="273" r:id="rId24"/>
    <p:sldId id="258" r:id="rId25"/>
    <p:sldId id="283" r:id="rId26"/>
    <p:sldId id="281" r:id="rId27"/>
    <p:sldId id="259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82"/>
    <p:restoredTop sz="96928"/>
  </p:normalViewPr>
  <p:slideViewPr>
    <p:cSldViewPr snapToGrid="0" snapToObjects="1">
      <p:cViewPr varScale="1">
        <p:scale>
          <a:sx n="155" d="100"/>
          <a:sy n="155" d="100"/>
        </p:scale>
        <p:origin x="34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FE4C92-B03D-6F47-8527-F4C20724E937}" type="datetimeFigureOut">
              <a:rPr lang="en-IL" smtClean="0"/>
              <a:t>18/08/2026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1CD5B7-1C52-9A41-BAEE-2F0D1B93775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05129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2F472-C7D4-4044-AB07-BC66E0ABCF9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119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49C11-E085-0C07-61C7-DFBAD6750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67AEB3-4199-13AA-91D8-C95E8346F0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2B3C17-69F1-1E3E-C8B7-F8D286B83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1F45D-D031-FA5F-F0C6-DC351DB2A0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2F472-C7D4-4044-AB07-BC66E0ABCF9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77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bullet – amount and complex</a:t>
            </a:r>
          </a:p>
          <a:p>
            <a:r>
              <a:rPr lang="en-US" dirty="0"/>
              <a:t>Third bullet – what’s the meaning? phrase otherwise. Policies are long, natural language, contain conflicts and abstract clauses</a:t>
            </a:r>
          </a:p>
          <a:p>
            <a:r>
              <a:rPr lang="en-US" dirty="0"/>
              <a:t>Last bullet – merge with first, constant drift? What’s the difference from first?</a:t>
            </a:r>
          </a:p>
          <a:p>
            <a:r>
              <a:rPr lang="en-US" dirty="0"/>
              <a:t>Illustration – Tree diagram with user at the root, large number of agents and tools – agents with one color and tools with another. </a:t>
            </a:r>
            <a:br>
              <a:rPr lang="en-US" dirty="0"/>
            </a:br>
            <a:r>
              <a:rPr lang="en-US" dirty="0"/>
              <a:t>Mark two routes – one with allow, one with deny. Emphasize that the scale is large (maybe with dots, and in short text underneath)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2F472-C7D4-4044-AB07-BC66E0ABCF9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AIAC’s use cases instead (what do they depict):</a:t>
            </a:r>
            <a:br>
              <a:rPr lang="en-US" dirty="0"/>
            </a:br>
            <a:r>
              <a:rPr lang="en-US" dirty="0"/>
              <a:t>UC1+2 – change and on/off-boarding</a:t>
            </a:r>
            <a:br>
              <a:rPr lang="en-US" dirty="0"/>
            </a:br>
            <a:r>
              <a:rPr lang="en-US" dirty="0"/>
              <a:t>..</a:t>
            </a:r>
          </a:p>
          <a:p>
            <a:r>
              <a:rPr lang="en-US" dirty="0"/>
              <a:t>Mention guardrails/harnesses/HITL are relevant for all UC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2F472-C7D4-4044-AB07-BC66E0ABCF9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125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1CD5B7-1C52-9A41-BAEE-2F0D1B937752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57722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6687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hgai-srv08.il-lab-no-users.ibm.com:8443/iaiac_demo/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70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73152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400" b="1" i="0" dirty="0" err="1">
                <a:solidFill>
                  <a:srgbClr val="C17F2E"/>
                </a:solidFill>
                <a:latin typeface="Arial Narrow"/>
              </a:rPr>
              <a:t>Rossoctl</a:t>
            </a:r>
            <a:r>
              <a:rPr lang="en-US" sz="1400" b="1" i="0" dirty="0">
                <a:solidFill>
                  <a:srgbClr val="C17F2E"/>
                </a:solidFill>
                <a:latin typeface="Arial Narrow"/>
              </a:rPr>
              <a:t> automated</a:t>
            </a:r>
            <a:r>
              <a:rPr sz="1400" b="1" i="0" dirty="0">
                <a:solidFill>
                  <a:srgbClr val="C17F2E"/>
                </a:solidFill>
                <a:latin typeface="Arial Narrow"/>
              </a:rPr>
              <a:t>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241280" cy="642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lang="en-US" sz="4400" b="1" i="0" dirty="0">
                <a:solidFill>
                  <a:srgbClr val="14181F"/>
                </a:solidFill>
                <a:latin typeface="Arial Narrow"/>
              </a:rPr>
              <a:t>AI based Access Control</a:t>
            </a:r>
            <a:endParaRPr sz="4400" b="1" i="0" dirty="0">
              <a:solidFill>
                <a:srgbClr val="14181F"/>
              </a:solidFill>
              <a:latin typeface="Arial Narrow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7863840" cy="3020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lang="en-US" sz="1600" b="1" dirty="0">
                <a:solidFill>
                  <a:srgbClr val="161F36"/>
                </a:solidFill>
              </a:rPr>
              <a:t>Continuous</a:t>
            </a:r>
            <a:r>
              <a:rPr lang="en-US" sz="1600" dirty="0">
                <a:solidFill>
                  <a:srgbClr val="5B6472"/>
                </a:solidFill>
                <a:latin typeface="Georgia"/>
              </a:rPr>
              <a:t> entitlements management in agentic systems  </a:t>
            </a:r>
            <a:endParaRPr lang="en-US" sz="1600" b="1" dirty="0">
              <a:solidFill>
                <a:srgbClr val="161F36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822960" y="5349240"/>
            <a:ext cx="7863840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5486400"/>
            <a:ext cx="640080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dirty="0">
                <a:solidFill>
                  <a:srgbClr val="5B6472"/>
                </a:solidFill>
                <a:latin typeface="Consolas"/>
              </a:rPr>
              <a:t>IBM Research Haifa</a:t>
            </a:r>
            <a:endParaRPr sz="1050" b="0" i="0" dirty="0">
              <a:solidFill>
                <a:srgbClr val="5B6472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36576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8A80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5423066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61F36"/>
                </a:solidFill>
                <a:latin typeface="Calibri"/>
              </a:rPr>
              <a:t>Access control in agentic world</a:t>
            </a:r>
            <a:endParaRPr sz="2900" b="1" i="0" dirty="0">
              <a:solidFill>
                <a:srgbClr val="161F36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914400" cy="508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97030" y="4073923"/>
            <a:ext cx="101600" cy="10160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9834" y="3667073"/>
            <a:ext cx="5163312" cy="8393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03000"/>
              </a:lnSpc>
            </a:pPr>
            <a:r>
              <a:rPr lang="en-US" sz="2400" dirty="0">
                <a:solidFill>
                  <a:srgbClr val="1F2937"/>
                </a:solidFill>
              </a:rPr>
              <a:t>Callers are </a:t>
            </a:r>
            <a:r>
              <a:rPr sz="2400" dirty="0">
                <a:solidFill>
                  <a:srgbClr val="1F2937"/>
                </a:solidFill>
              </a:rPr>
              <a:t>increasingly </a:t>
            </a:r>
            <a:r>
              <a:rPr lang="en-US" sz="2400" dirty="0">
                <a:solidFill>
                  <a:srgbClr val="1F2937"/>
                </a:solidFill>
              </a:rPr>
              <a:t>becoming </a:t>
            </a:r>
            <a:r>
              <a:rPr sz="2400" dirty="0">
                <a:solidFill>
                  <a:srgbClr val="1F2937"/>
                </a:solidFill>
              </a:rPr>
              <a:t>AI </a:t>
            </a:r>
            <a:r>
              <a:rPr lang="en-US" sz="2400" dirty="0">
                <a:solidFill>
                  <a:srgbClr val="1F2937"/>
                </a:solidFill>
              </a:rPr>
              <a:t>AGENTS (used to be mostly PERSONS)</a:t>
            </a:r>
            <a:endParaRPr sz="2400" dirty="0">
              <a:solidFill>
                <a:srgbClr val="1F2937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632222" y="4982029"/>
            <a:ext cx="101600" cy="10160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8454" y="4632986"/>
            <a:ext cx="4561950" cy="8393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03000"/>
              </a:lnSpc>
            </a:pPr>
            <a:r>
              <a:rPr lang="en-US" sz="2400" dirty="0">
                <a:solidFill>
                  <a:srgbClr val="1F2937"/>
                </a:solidFill>
              </a:rPr>
              <a:t>AI agents chain calls to other agents and tools, on a user's behalf - </a:t>
            </a:r>
            <a:endParaRPr sz="2400" dirty="0">
              <a:solidFill>
                <a:srgbClr val="1F2937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>
                <a:solidFill>
                  <a:srgbClr val="9AA5B1"/>
                </a:solidFill>
                <a:latin typeface="Calibri"/>
              </a:rPr>
              <a:t>AIAC — AI Access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51052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1"/>
                </a:solidFill>
                <a:latin typeface="Calibri"/>
              </a:rPr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BD36870-AC44-120C-57A1-9E565EFD1520}"/>
              </a:ext>
            </a:extLst>
          </p:cNvPr>
          <p:cNvSpPr/>
          <p:nvPr/>
        </p:nvSpPr>
        <p:spPr>
          <a:xfrm>
            <a:off x="632222" y="1915526"/>
            <a:ext cx="101600" cy="10160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A4015D-B835-62BF-7DE4-7EAEEDA94176}"/>
              </a:ext>
            </a:extLst>
          </p:cNvPr>
          <p:cNvSpPr txBox="1"/>
          <p:nvPr/>
        </p:nvSpPr>
        <p:spPr>
          <a:xfrm>
            <a:off x="932688" y="1407248"/>
            <a:ext cx="5467229" cy="1219757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03000"/>
              </a:lnSpc>
            </a:pPr>
            <a:r>
              <a:rPr lang="en-US" sz="2400" b="1" dirty="0">
                <a:solidFill>
                  <a:srgbClr val="1F2937"/>
                </a:solidFill>
              </a:rPr>
              <a:t>Govern </a:t>
            </a:r>
            <a:r>
              <a:rPr lang="en-US" sz="2400" b="1" i="1" dirty="0">
                <a:solidFill>
                  <a:srgbClr val="1F2937"/>
                </a:solidFill>
              </a:rPr>
              <a:t>interactions </a:t>
            </a:r>
            <a:r>
              <a:rPr lang="en-US" sz="2400" i="1" dirty="0">
                <a:solidFill>
                  <a:srgbClr val="1F2937"/>
                </a:solidFill>
              </a:rPr>
              <a:t>via a</a:t>
            </a:r>
            <a:r>
              <a:rPr lang="en-US" sz="2400" b="1" i="1" dirty="0">
                <a:solidFill>
                  <a:srgbClr val="1F2937"/>
                </a:solidFill>
              </a:rPr>
              <a:t> </a:t>
            </a:r>
            <a:r>
              <a:rPr lang="en-US" sz="2400" b="1" dirty="0">
                <a:solidFill>
                  <a:schemeClr val="tx2"/>
                </a:solidFill>
              </a:rPr>
              <a:t>natural language </a:t>
            </a:r>
            <a:r>
              <a:rPr lang="en-US" sz="2400" b="1" i="1" u="sng" dirty="0">
                <a:solidFill>
                  <a:schemeClr val="tx2"/>
                </a:solidFill>
              </a:rPr>
              <a:t>policy</a:t>
            </a:r>
            <a:r>
              <a:rPr lang="en-US" sz="2400" dirty="0">
                <a:solidFill>
                  <a:srgbClr val="1F2937"/>
                </a:solidFill>
              </a:rPr>
              <a:t> between</a:t>
            </a:r>
            <a:r>
              <a:rPr lang="en-US" sz="2400" b="1" dirty="0">
                <a:solidFill>
                  <a:srgbClr val="1F2937"/>
                </a:solidFill>
              </a:rPr>
              <a:t> </a:t>
            </a:r>
            <a:r>
              <a:rPr lang="en-US" sz="2400" b="1" dirty="0">
                <a:solidFill>
                  <a:schemeClr val="tx2"/>
                </a:solidFill>
              </a:rPr>
              <a:t>Users</a:t>
            </a:r>
            <a:r>
              <a:rPr lang="en-US" sz="2400" b="1" dirty="0">
                <a:solidFill>
                  <a:srgbClr val="1F2937"/>
                </a:solidFill>
              </a:rPr>
              <a:t>, </a:t>
            </a:r>
            <a:r>
              <a:rPr lang="en-US" sz="2400" b="1" dirty="0">
                <a:solidFill>
                  <a:schemeClr val="tx2"/>
                </a:solidFill>
              </a:rPr>
              <a:t>AI agents</a:t>
            </a:r>
            <a:r>
              <a:rPr lang="en-US" sz="2400" dirty="0">
                <a:solidFill>
                  <a:srgbClr val="1F2937"/>
                </a:solidFill>
              </a:rPr>
              <a:t> and </a:t>
            </a:r>
            <a:r>
              <a:rPr lang="en-US" sz="2400" b="1" dirty="0">
                <a:solidFill>
                  <a:schemeClr val="tx2"/>
                </a:solidFill>
              </a:rPr>
              <a:t>Tools</a:t>
            </a:r>
            <a:r>
              <a:rPr lang="en-US" sz="2400" dirty="0">
                <a:solidFill>
                  <a:srgbClr val="1F2937"/>
                </a:solidFill>
              </a:rPr>
              <a:t> on the platform. 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9620E1A-CB39-8944-BFE4-A7223FEDC04A}"/>
              </a:ext>
            </a:extLst>
          </p:cNvPr>
          <p:cNvSpPr/>
          <p:nvPr/>
        </p:nvSpPr>
        <p:spPr>
          <a:xfrm>
            <a:off x="7715456" y="1863228"/>
            <a:ext cx="822960" cy="45720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16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User</a:t>
            </a:r>
            <a:r>
              <a:rPr lang="en-US" sz="1300" b="1" dirty="0">
                <a:solidFill>
                  <a:srgbClr val="FFFFFF"/>
                </a:solidFill>
                <a:latin typeface="Calibri"/>
              </a:rPr>
              <a:t> A</a:t>
            </a:r>
            <a:endParaRPr sz="13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8A0DDA2-8505-EC1B-66A0-8A28212B6D89}"/>
              </a:ext>
            </a:extLst>
          </p:cNvPr>
          <p:cNvSpPr/>
          <p:nvPr/>
        </p:nvSpPr>
        <p:spPr>
          <a:xfrm>
            <a:off x="6313240" y="3264784"/>
            <a:ext cx="1325880" cy="457200"/>
          </a:xfrm>
          <a:prstGeom prst="roundRect">
            <a:avLst/>
          </a:prstGeom>
          <a:solidFill>
            <a:srgbClr val="E3F7F5"/>
          </a:solidFill>
          <a:ln w="19050">
            <a:solidFill>
              <a:srgbClr val="1B8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/>
            <a:r>
              <a:rPr lang="en-US" sz="1200" b="1" dirty="0">
                <a:solidFill>
                  <a:srgbClr val="161F36"/>
                </a:solidFill>
                <a:latin typeface="Calibri"/>
              </a:rPr>
              <a:t>Car Rental Ag</a:t>
            </a:r>
            <a:r>
              <a:rPr sz="1200" b="1" dirty="0">
                <a:solidFill>
                  <a:srgbClr val="161F36"/>
                </a:solidFill>
                <a:latin typeface="Calibri"/>
              </a:rPr>
              <a:t>ent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F2073154-583F-CF3D-A3EA-EB14762E87CA}"/>
              </a:ext>
            </a:extLst>
          </p:cNvPr>
          <p:cNvSpPr/>
          <p:nvPr/>
        </p:nvSpPr>
        <p:spPr>
          <a:xfrm>
            <a:off x="8193132" y="3329664"/>
            <a:ext cx="1234440" cy="457200"/>
          </a:xfrm>
          <a:prstGeom prst="roundRect">
            <a:avLst/>
          </a:prstGeom>
          <a:solidFill>
            <a:srgbClr val="E3F7F5"/>
          </a:solidFill>
          <a:ln w="19050">
            <a:solidFill>
              <a:srgbClr val="1B8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/>
            <a:r>
              <a:rPr lang="en-US" sz="1200" b="1" dirty="0">
                <a:solidFill>
                  <a:srgbClr val="161F36"/>
                </a:solidFill>
                <a:latin typeface="Calibri"/>
              </a:rPr>
              <a:t>Weather </a:t>
            </a:r>
            <a:r>
              <a:rPr sz="1200" b="1" dirty="0">
                <a:solidFill>
                  <a:srgbClr val="161F36"/>
                </a:solidFill>
                <a:latin typeface="Calibri"/>
              </a:rPr>
              <a:t>Agent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59CFF8-6147-BBF0-6549-D0B6C98C20C1}"/>
              </a:ext>
            </a:extLst>
          </p:cNvPr>
          <p:cNvSpPr txBox="1"/>
          <p:nvPr/>
        </p:nvSpPr>
        <p:spPr>
          <a:xfrm>
            <a:off x="11414966" y="3476203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 dirty="0">
                <a:solidFill>
                  <a:srgbClr val="6B7480"/>
                </a:solidFill>
                <a:latin typeface="Calibri"/>
              </a:rPr>
              <a:t>•••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E657585-9916-B4C3-4624-155753D265D1}"/>
              </a:ext>
            </a:extLst>
          </p:cNvPr>
          <p:cNvSpPr/>
          <p:nvPr/>
        </p:nvSpPr>
        <p:spPr>
          <a:xfrm>
            <a:off x="6304799" y="4726974"/>
            <a:ext cx="1188720" cy="457200"/>
          </a:xfrm>
          <a:prstGeom prst="roundRect">
            <a:avLst/>
          </a:prstGeom>
          <a:solidFill>
            <a:srgbClr val="F1F4F8"/>
          </a:solidFill>
          <a:ln w="19050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/>
            <a:r>
              <a:rPr lang="en-US" sz="1200" b="1" dirty="0">
                <a:solidFill>
                  <a:srgbClr val="161F36"/>
                </a:solidFill>
                <a:latin typeface="Calibri"/>
              </a:rPr>
              <a:t>Car Book </a:t>
            </a:r>
            <a:r>
              <a:rPr sz="1200" b="1" dirty="0">
                <a:solidFill>
                  <a:srgbClr val="161F36"/>
                </a:solidFill>
                <a:latin typeface="Calibri"/>
              </a:rPr>
              <a:t>Tool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24B48BC-150A-8C14-B35B-6496350D7A69}"/>
              </a:ext>
            </a:extLst>
          </p:cNvPr>
          <p:cNvSpPr/>
          <p:nvPr/>
        </p:nvSpPr>
        <p:spPr>
          <a:xfrm>
            <a:off x="8390370" y="4853601"/>
            <a:ext cx="1188720" cy="457200"/>
          </a:xfrm>
          <a:prstGeom prst="roundRect">
            <a:avLst/>
          </a:prstGeom>
          <a:solidFill>
            <a:srgbClr val="F1F4F8"/>
          </a:solidFill>
          <a:ln w="19050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/>
            <a:r>
              <a:rPr lang="en-US" sz="1200" b="1" dirty="0">
                <a:solidFill>
                  <a:srgbClr val="161F36"/>
                </a:solidFill>
                <a:latin typeface="Calibri"/>
              </a:rPr>
              <a:t>Weather </a:t>
            </a:r>
            <a:r>
              <a:rPr sz="1200" b="1" dirty="0">
                <a:solidFill>
                  <a:srgbClr val="161F36"/>
                </a:solidFill>
                <a:latin typeface="Calibri"/>
              </a:rPr>
              <a:t>Tool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3DA05D4-6FE5-831D-6FEA-A4B204CC5759}"/>
              </a:ext>
            </a:extLst>
          </p:cNvPr>
          <p:cNvSpPr txBox="1"/>
          <p:nvPr/>
        </p:nvSpPr>
        <p:spPr>
          <a:xfrm>
            <a:off x="8995616" y="1911636"/>
            <a:ext cx="65151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 dirty="0">
                <a:solidFill>
                  <a:srgbClr val="6B7480"/>
                </a:solidFill>
                <a:latin typeface="Calibri"/>
              </a:rPr>
              <a:t>•••</a:t>
            </a:r>
          </a:p>
        </p:txBody>
      </p:sp>
      <p:cxnSp>
        <p:nvCxnSpPr>
          <p:cNvPr id="41" name="Connector 19">
            <a:extLst>
              <a:ext uri="{FF2B5EF4-FFF2-40B4-BE49-F238E27FC236}">
                <a16:creationId xmlns:a16="http://schemas.microsoft.com/office/drawing/2014/main" id="{ECEE8414-93C6-6996-FC0C-D940A02A60FC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 flipH="1">
            <a:off x="6976180" y="2320428"/>
            <a:ext cx="1150756" cy="944356"/>
          </a:xfrm>
          <a:prstGeom prst="line">
            <a:avLst/>
          </a:prstGeom>
          <a:ln w="31750">
            <a:solidFill>
              <a:srgbClr val="3FA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20">
            <a:extLst>
              <a:ext uri="{FF2B5EF4-FFF2-40B4-BE49-F238E27FC236}">
                <a16:creationId xmlns:a16="http://schemas.microsoft.com/office/drawing/2014/main" id="{6C405784-B226-E614-99D5-6108D44C7334}"/>
              </a:ext>
            </a:extLst>
          </p:cNvPr>
          <p:cNvCxnSpPr>
            <a:cxnSpLocks/>
            <a:stCxn id="35" idx="2"/>
            <a:endCxn id="38" idx="0"/>
          </p:cNvCxnSpPr>
          <p:nvPr/>
        </p:nvCxnSpPr>
        <p:spPr>
          <a:xfrm flipH="1">
            <a:off x="6899159" y="3721984"/>
            <a:ext cx="77021" cy="1004990"/>
          </a:xfrm>
          <a:prstGeom prst="line">
            <a:avLst/>
          </a:prstGeom>
          <a:ln w="31750">
            <a:solidFill>
              <a:srgbClr val="3FA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F6357F4-E97F-2CE6-FEBA-6943782CE6AC}"/>
              </a:ext>
            </a:extLst>
          </p:cNvPr>
          <p:cNvSpPr txBox="1"/>
          <p:nvPr/>
        </p:nvSpPr>
        <p:spPr>
          <a:xfrm>
            <a:off x="5965267" y="5310735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3FA766"/>
                </a:solidFill>
                <a:latin typeface="Calibri"/>
              </a:rPr>
              <a:t>✓ allowed</a:t>
            </a:r>
          </a:p>
        </p:txBody>
      </p:sp>
      <p:cxnSp>
        <p:nvCxnSpPr>
          <p:cNvPr id="44" name="Connector 22">
            <a:extLst>
              <a:ext uri="{FF2B5EF4-FFF2-40B4-BE49-F238E27FC236}">
                <a16:creationId xmlns:a16="http://schemas.microsoft.com/office/drawing/2014/main" id="{58633DCF-093E-BCEB-581D-900D2846ED75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>
            <a:off x="8126936" y="2320428"/>
            <a:ext cx="683416" cy="1009236"/>
          </a:xfrm>
          <a:prstGeom prst="line">
            <a:avLst/>
          </a:prstGeom>
          <a:ln w="12700">
            <a:solidFill>
              <a:srgbClr val="C03B2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B3EC842-DBF3-9A3B-AD74-5F4F3AE8F420}"/>
              </a:ext>
            </a:extLst>
          </p:cNvPr>
          <p:cNvSpPr txBox="1"/>
          <p:nvPr/>
        </p:nvSpPr>
        <p:spPr>
          <a:xfrm rot="20726948">
            <a:off x="7879640" y="4248414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C03B2E"/>
                </a:solidFill>
                <a:latin typeface="Calibri"/>
              </a:rPr>
              <a:t>✗ denied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0D102B-9F7E-32FE-430C-EE11B9BBC3D2}"/>
              </a:ext>
            </a:extLst>
          </p:cNvPr>
          <p:cNvSpPr txBox="1"/>
          <p:nvPr/>
        </p:nvSpPr>
        <p:spPr>
          <a:xfrm>
            <a:off x="7557613" y="5894628"/>
            <a:ext cx="3431177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latin typeface="Georgia"/>
              </a:rPr>
              <a:t>Hundreds of agents and tools</a:t>
            </a:r>
            <a:endParaRPr lang="en-US" sz="1400" dirty="0">
              <a:latin typeface="Georgia"/>
            </a:endParaRPr>
          </a:p>
          <a:p>
            <a:pPr algn="l"/>
            <a:r>
              <a:rPr lang="en-IL" sz="1400" dirty="0">
                <a:latin typeface="Georgia"/>
              </a:rPr>
              <a:t>M</a:t>
            </a:r>
            <a:r>
              <a:rPr sz="1400" dirty="0" err="1">
                <a:latin typeface="Georgia"/>
              </a:rPr>
              <a:t>ost</a:t>
            </a:r>
            <a:r>
              <a:rPr sz="1400" dirty="0">
                <a:latin typeface="Georgia"/>
              </a:rPr>
              <a:t> paths were never designed together.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AA97C0AE-EB4C-F5AF-27E2-3FAD496F1F36}"/>
              </a:ext>
            </a:extLst>
          </p:cNvPr>
          <p:cNvSpPr/>
          <p:nvPr/>
        </p:nvSpPr>
        <p:spPr>
          <a:xfrm>
            <a:off x="10104326" y="1863228"/>
            <a:ext cx="822960" cy="45720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16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User</a:t>
            </a:r>
            <a:r>
              <a:rPr lang="en-US" sz="1300" b="1" dirty="0">
                <a:solidFill>
                  <a:srgbClr val="FFFFFF"/>
                </a:solidFill>
                <a:latin typeface="Calibri"/>
              </a:rPr>
              <a:t> B</a:t>
            </a:r>
            <a:endParaRPr sz="1300" b="1" dirty="0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48" name="Connector 25">
            <a:extLst>
              <a:ext uri="{FF2B5EF4-FFF2-40B4-BE49-F238E27FC236}">
                <a16:creationId xmlns:a16="http://schemas.microsoft.com/office/drawing/2014/main" id="{B989EA24-5681-214D-9496-D26F11EF8971}"/>
              </a:ext>
            </a:extLst>
          </p:cNvPr>
          <p:cNvCxnSpPr>
            <a:cxnSpLocks/>
            <a:stCxn id="34" idx="2"/>
            <a:endCxn id="49" idx="0"/>
          </p:cNvCxnSpPr>
          <p:nvPr/>
        </p:nvCxnSpPr>
        <p:spPr>
          <a:xfrm>
            <a:off x="8126936" y="2320428"/>
            <a:ext cx="2740816" cy="1001494"/>
          </a:xfrm>
          <a:prstGeom prst="line">
            <a:avLst/>
          </a:prstGeom>
          <a:ln w="12700">
            <a:solidFill>
              <a:srgbClr val="C03B2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1601D37-150D-8E84-30A5-D534CF628AB6}"/>
              </a:ext>
            </a:extLst>
          </p:cNvPr>
          <p:cNvSpPr/>
          <p:nvPr/>
        </p:nvSpPr>
        <p:spPr>
          <a:xfrm>
            <a:off x="10250532" y="3321922"/>
            <a:ext cx="1234440" cy="457200"/>
          </a:xfrm>
          <a:prstGeom prst="roundRect">
            <a:avLst/>
          </a:prstGeom>
          <a:solidFill>
            <a:srgbClr val="E3F7F5"/>
          </a:solidFill>
          <a:ln w="19050">
            <a:solidFill>
              <a:srgbClr val="1B8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/>
            <a:r>
              <a:rPr lang="en-US" sz="1200" b="1" dirty="0">
                <a:solidFill>
                  <a:srgbClr val="161F36"/>
                </a:solidFill>
                <a:latin typeface="Calibri"/>
              </a:rPr>
              <a:t>Travel </a:t>
            </a:r>
            <a:r>
              <a:rPr sz="1200" b="1" dirty="0">
                <a:solidFill>
                  <a:srgbClr val="161F36"/>
                </a:solidFill>
                <a:latin typeface="Calibri"/>
              </a:rPr>
              <a:t>Agent</a:t>
            </a:r>
          </a:p>
        </p:txBody>
      </p:sp>
      <p:cxnSp>
        <p:nvCxnSpPr>
          <p:cNvPr id="50" name="Connector 25">
            <a:extLst>
              <a:ext uri="{FF2B5EF4-FFF2-40B4-BE49-F238E27FC236}">
                <a16:creationId xmlns:a16="http://schemas.microsoft.com/office/drawing/2014/main" id="{B32B8317-B38B-E14A-7274-AD5974654483}"/>
              </a:ext>
            </a:extLst>
          </p:cNvPr>
          <p:cNvCxnSpPr>
            <a:cxnSpLocks/>
            <a:stCxn id="47" idx="2"/>
            <a:endCxn id="49" idx="0"/>
          </p:cNvCxnSpPr>
          <p:nvPr/>
        </p:nvCxnSpPr>
        <p:spPr>
          <a:xfrm>
            <a:off x="10515806" y="2320428"/>
            <a:ext cx="351946" cy="1001494"/>
          </a:xfrm>
          <a:prstGeom prst="line">
            <a:avLst/>
          </a:prstGeom>
          <a:ln w="31750">
            <a:solidFill>
              <a:srgbClr val="3FA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25">
            <a:extLst>
              <a:ext uri="{FF2B5EF4-FFF2-40B4-BE49-F238E27FC236}">
                <a16:creationId xmlns:a16="http://schemas.microsoft.com/office/drawing/2014/main" id="{FEC5C211-EB5A-A154-C2A3-1560FC22AE18}"/>
              </a:ext>
            </a:extLst>
          </p:cNvPr>
          <p:cNvCxnSpPr>
            <a:cxnSpLocks/>
            <a:stCxn id="47" idx="2"/>
            <a:endCxn id="35" idx="0"/>
          </p:cNvCxnSpPr>
          <p:nvPr/>
        </p:nvCxnSpPr>
        <p:spPr>
          <a:xfrm flipH="1">
            <a:off x="6976180" y="2320428"/>
            <a:ext cx="3539626" cy="944356"/>
          </a:xfrm>
          <a:prstGeom prst="line">
            <a:avLst/>
          </a:prstGeom>
          <a:ln w="12700">
            <a:solidFill>
              <a:srgbClr val="C03B2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20">
            <a:extLst>
              <a:ext uri="{FF2B5EF4-FFF2-40B4-BE49-F238E27FC236}">
                <a16:creationId xmlns:a16="http://schemas.microsoft.com/office/drawing/2014/main" id="{48E01F5E-F6D3-9F85-C15F-CE437B8964E2}"/>
              </a:ext>
            </a:extLst>
          </p:cNvPr>
          <p:cNvCxnSpPr>
            <a:cxnSpLocks/>
            <a:stCxn id="49" idx="1"/>
            <a:endCxn id="36" idx="3"/>
          </p:cNvCxnSpPr>
          <p:nvPr/>
        </p:nvCxnSpPr>
        <p:spPr>
          <a:xfrm flipH="1">
            <a:off x="9427572" y="3550522"/>
            <a:ext cx="822960" cy="7742"/>
          </a:xfrm>
          <a:prstGeom prst="line">
            <a:avLst/>
          </a:prstGeom>
          <a:ln w="31750">
            <a:solidFill>
              <a:srgbClr val="3FA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20">
            <a:extLst>
              <a:ext uri="{FF2B5EF4-FFF2-40B4-BE49-F238E27FC236}">
                <a16:creationId xmlns:a16="http://schemas.microsoft.com/office/drawing/2014/main" id="{B29E68F0-6DBD-4C37-0999-4997B757A9B5}"/>
              </a:ext>
            </a:extLst>
          </p:cNvPr>
          <p:cNvCxnSpPr>
            <a:cxnSpLocks/>
            <a:stCxn id="39" idx="0"/>
            <a:endCxn id="36" idx="2"/>
          </p:cNvCxnSpPr>
          <p:nvPr/>
        </p:nvCxnSpPr>
        <p:spPr>
          <a:xfrm flipH="1" flipV="1">
            <a:off x="8810352" y="3786864"/>
            <a:ext cx="174378" cy="1066737"/>
          </a:xfrm>
          <a:prstGeom prst="line">
            <a:avLst/>
          </a:prstGeom>
          <a:ln w="31750">
            <a:solidFill>
              <a:srgbClr val="3FA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583C9DD-F76B-75E2-489F-C748FE52CAD2}"/>
              </a:ext>
            </a:extLst>
          </p:cNvPr>
          <p:cNvSpPr txBox="1"/>
          <p:nvPr/>
        </p:nvSpPr>
        <p:spPr>
          <a:xfrm>
            <a:off x="8333220" y="4521128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3FA766"/>
                </a:solidFill>
                <a:latin typeface="Calibri"/>
              </a:rPr>
              <a:t>✓ allowed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E141C8C-F593-2C1F-B499-B59567F5F72D}"/>
              </a:ext>
            </a:extLst>
          </p:cNvPr>
          <p:cNvSpPr txBox="1"/>
          <p:nvPr/>
        </p:nvSpPr>
        <p:spPr>
          <a:xfrm>
            <a:off x="6355287" y="4357507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3FA766"/>
                </a:solidFill>
                <a:latin typeface="Calibri"/>
              </a:rPr>
              <a:t>✓ allowed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50727F1-9D33-3E0E-B0EE-15E1EE4E747D}"/>
              </a:ext>
            </a:extLst>
          </p:cNvPr>
          <p:cNvSpPr txBox="1"/>
          <p:nvPr/>
        </p:nvSpPr>
        <p:spPr>
          <a:xfrm rot="20775577">
            <a:off x="7683289" y="2802340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C03B2E"/>
                </a:solidFill>
                <a:latin typeface="Calibri"/>
              </a:rPr>
              <a:t>✗ denied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D8AE209-DC52-70F3-AFEF-654E5E2350EA}"/>
              </a:ext>
            </a:extLst>
          </p:cNvPr>
          <p:cNvSpPr txBox="1"/>
          <p:nvPr/>
        </p:nvSpPr>
        <p:spPr>
          <a:xfrm>
            <a:off x="9461275" y="3570336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3FA766"/>
                </a:solidFill>
                <a:latin typeface="Calibri"/>
              </a:rPr>
              <a:t>✓ allowed</a:t>
            </a:r>
          </a:p>
        </p:txBody>
      </p:sp>
      <p:cxnSp>
        <p:nvCxnSpPr>
          <p:cNvPr id="58" name="Connector 23">
            <a:extLst>
              <a:ext uri="{FF2B5EF4-FFF2-40B4-BE49-F238E27FC236}">
                <a16:creationId xmlns:a16="http://schemas.microsoft.com/office/drawing/2014/main" id="{F6F232A5-2F21-314D-FE48-3DD7AF015965}"/>
              </a:ext>
            </a:extLst>
          </p:cNvPr>
          <p:cNvCxnSpPr>
            <a:cxnSpLocks/>
            <a:stCxn id="49" idx="2"/>
            <a:endCxn id="39" idx="3"/>
          </p:cNvCxnSpPr>
          <p:nvPr/>
        </p:nvCxnSpPr>
        <p:spPr>
          <a:xfrm flipH="1">
            <a:off x="9579090" y="3779122"/>
            <a:ext cx="1288662" cy="1303079"/>
          </a:xfrm>
          <a:prstGeom prst="line">
            <a:avLst/>
          </a:prstGeom>
          <a:ln w="12700">
            <a:solidFill>
              <a:srgbClr val="C03B2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D38E8F3-6D53-971A-B4B0-C94AAFBFBBA7}"/>
              </a:ext>
            </a:extLst>
          </p:cNvPr>
          <p:cNvSpPr txBox="1"/>
          <p:nvPr/>
        </p:nvSpPr>
        <p:spPr>
          <a:xfrm rot="18863058">
            <a:off x="10022850" y="4094732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C03B2E"/>
                </a:solidFill>
                <a:latin typeface="Calibri"/>
              </a:rPr>
              <a:t>✗ denied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F7997F54-1EEE-DD9E-346E-7A65DD50CCC6}"/>
              </a:ext>
            </a:extLst>
          </p:cNvPr>
          <p:cNvSpPr/>
          <p:nvPr/>
        </p:nvSpPr>
        <p:spPr>
          <a:xfrm>
            <a:off x="10618676" y="5015118"/>
            <a:ext cx="1188720" cy="457200"/>
          </a:xfrm>
          <a:prstGeom prst="roundRect">
            <a:avLst/>
          </a:prstGeom>
          <a:solidFill>
            <a:srgbClr val="F1F4F8"/>
          </a:solidFill>
          <a:ln w="19050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/>
            <a:r>
              <a:rPr lang="en-US" sz="1200" b="1" dirty="0">
                <a:solidFill>
                  <a:srgbClr val="161F36"/>
                </a:solidFill>
                <a:latin typeface="Calibri"/>
              </a:rPr>
              <a:t>Search </a:t>
            </a:r>
            <a:r>
              <a:rPr sz="1200" b="1" dirty="0">
                <a:solidFill>
                  <a:srgbClr val="161F36"/>
                </a:solidFill>
                <a:latin typeface="Calibri"/>
              </a:rPr>
              <a:t>Tool</a:t>
            </a:r>
          </a:p>
        </p:txBody>
      </p:sp>
      <p:cxnSp>
        <p:nvCxnSpPr>
          <p:cNvPr id="61" name="Connector 20">
            <a:extLst>
              <a:ext uri="{FF2B5EF4-FFF2-40B4-BE49-F238E27FC236}">
                <a16:creationId xmlns:a16="http://schemas.microsoft.com/office/drawing/2014/main" id="{22B045B4-0660-36E6-67C1-484B524FF221}"/>
              </a:ext>
            </a:extLst>
          </p:cNvPr>
          <p:cNvCxnSpPr>
            <a:cxnSpLocks/>
            <a:stCxn id="60" idx="0"/>
            <a:endCxn id="49" idx="2"/>
          </p:cNvCxnSpPr>
          <p:nvPr/>
        </p:nvCxnSpPr>
        <p:spPr>
          <a:xfrm flipH="1" flipV="1">
            <a:off x="10867752" y="3779122"/>
            <a:ext cx="345284" cy="1235996"/>
          </a:xfrm>
          <a:prstGeom prst="line">
            <a:avLst/>
          </a:prstGeom>
          <a:ln w="31750">
            <a:solidFill>
              <a:srgbClr val="3FA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3CB022B3-99C2-D3C8-783C-58DA8BF8A6FD}"/>
              </a:ext>
            </a:extLst>
          </p:cNvPr>
          <p:cNvSpPr txBox="1"/>
          <p:nvPr/>
        </p:nvSpPr>
        <p:spPr>
          <a:xfrm>
            <a:off x="11015460" y="4224088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3FA766"/>
                </a:solidFill>
                <a:latin typeface="Calibri"/>
              </a:rPr>
              <a:t>✓ allowed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A7FA741-F377-BF57-3684-D2B140C983F1}"/>
              </a:ext>
            </a:extLst>
          </p:cNvPr>
          <p:cNvSpPr txBox="1"/>
          <p:nvPr/>
        </p:nvSpPr>
        <p:spPr>
          <a:xfrm>
            <a:off x="6995919" y="2594210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3FA766"/>
                </a:solidFill>
                <a:latin typeface="Calibri"/>
              </a:rPr>
              <a:t>✓ allowed</a:t>
            </a:r>
          </a:p>
        </p:txBody>
      </p:sp>
      <p:cxnSp>
        <p:nvCxnSpPr>
          <p:cNvPr id="64" name="Connector 19">
            <a:extLst>
              <a:ext uri="{FF2B5EF4-FFF2-40B4-BE49-F238E27FC236}">
                <a16:creationId xmlns:a16="http://schemas.microsoft.com/office/drawing/2014/main" id="{ECF10D58-BB4E-6070-C082-17472BB3CAC8}"/>
              </a:ext>
            </a:extLst>
          </p:cNvPr>
          <p:cNvCxnSpPr>
            <a:cxnSpLocks/>
            <a:stCxn id="47" idx="2"/>
            <a:endCxn id="36" idx="0"/>
          </p:cNvCxnSpPr>
          <p:nvPr/>
        </p:nvCxnSpPr>
        <p:spPr>
          <a:xfrm flipH="1">
            <a:off x="8810352" y="2320428"/>
            <a:ext cx="1705454" cy="1009236"/>
          </a:xfrm>
          <a:prstGeom prst="line">
            <a:avLst/>
          </a:prstGeom>
          <a:ln w="31750">
            <a:solidFill>
              <a:srgbClr val="3FA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5F6E8DC0-AD24-6667-14B0-3357E8A2807C}"/>
              </a:ext>
            </a:extLst>
          </p:cNvPr>
          <p:cNvSpPr txBox="1"/>
          <p:nvPr/>
        </p:nvSpPr>
        <p:spPr>
          <a:xfrm rot="20028826">
            <a:off x="8747421" y="2959200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3FA766"/>
                </a:solidFill>
                <a:latin typeface="Calibri"/>
              </a:rPr>
              <a:t>✓ allowed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FE4E4A7-AE14-5D9C-3AF7-6B9865803626}"/>
              </a:ext>
            </a:extLst>
          </p:cNvPr>
          <p:cNvSpPr txBox="1"/>
          <p:nvPr/>
        </p:nvSpPr>
        <p:spPr>
          <a:xfrm>
            <a:off x="10757777" y="2841068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3FA766"/>
                </a:solidFill>
                <a:latin typeface="Calibri"/>
              </a:rPr>
              <a:t>✓ allowed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6EAB99C-E472-3FDA-9EC1-D16797887986}"/>
              </a:ext>
            </a:extLst>
          </p:cNvPr>
          <p:cNvSpPr txBox="1"/>
          <p:nvPr/>
        </p:nvSpPr>
        <p:spPr>
          <a:xfrm rot="1424711">
            <a:off x="10541998" y="4679592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C03B2E"/>
                </a:solidFill>
                <a:latin typeface="Calibri"/>
              </a:rPr>
              <a:t>✗ denied</a:t>
            </a:r>
          </a:p>
        </p:txBody>
      </p:sp>
      <p:cxnSp>
        <p:nvCxnSpPr>
          <p:cNvPr id="68" name="Connector 23">
            <a:extLst>
              <a:ext uri="{FF2B5EF4-FFF2-40B4-BE49-F238E27FC236}">
                <a16:creationId xmlns:a16="http://schemas.microsoft.com/office/drawing/2014/main" id="{F9C10D66-52A9-88B2-6943-8B1C7894B284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>
            <a:off x="7639120" y="3493384"/>
            <a:ext cx="554012" cy="64880"/>
          </a:xfrm>
          <a:prstGeom prst="line">
            <a:avLst/>
          </a:prstGeom>
          <a:ln w="12700">
            <a:solidFill>
              <a:srgbClr val="C03B2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23">
            <a:extLst>
              <a:ext uri="{FF2B5EF4-FFF2-40B4-BE49-F238E27FC236}">
                <a16:creationId xmlns:a16="http://schemas.microsoft.com/office/drawing/2014/main" id="{F3F05008-6B89-9520-5D63-640A3109533F}"/>
              </a:ext>
            </a:extLst>
          </p:cNvPr>
          <p:cNvCxnSpPr>
            <a:cxnSpLocks/>
            <a:stCxn id="35" idx="2"/>
            <a:endCxn id="60" idx="0"/>
          </p:cNvCxnSpPr>
          <p:nvPr/>
        </p:nvCxnSpPr>
        <p:spPr>
          <a:xfrm>
            <a:off x="6976180" y="3721984"/>
            <a:ext cx="4236856" cy="1293134"/>
          </a:xfrm>
          <a:prstGeom prst="line">
            <a:avLst/>
          </a:prstGeom>
          <a:ln w="31750">
            <a:solidFill>
              <a:srgbClr val="3FA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23">
            <a:extLst>
              <a:ext uri="{FF2B5EF4-FFF2-40B4-BE49-F238E27FC236}">
                <a16:creationId xmlns:a16="http://schemas.microsoft.com/office/drawing/2014/main" id="{D2F621B9-069B-62E2-05B6-287ECC48828F}"/>
              </a:ext>
            </a:extLst>
          </p:cNvPr>
          <p:cNvCxnSpPr>
            <a:cxnSpLocks/>
            <a:stCxn id="36" idx="2"/>
            <a:endCxn id="60" idx="0"/>
          </p:cNvCxnSpPr>
          <p:nvPr/>
        </p:nvCxnSpPr>
        <p:spPr>
          <a:xfrm>
            <a:off x="8810352" y="3786864"/>
            <a:ext cx="2402684" cy="1228254"/>
          </a:xfrm>
          <a:prstGeom prst="line">
            <a:avLst/>
          </a:prstGeom>
          <a:ln w="12700">
            <a:solidFill>
              <a:srgbClr val="C03B2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23">
            <a:extLst>
              <a:ext uri="{FF2B5EF4-FFF2-40B4-BE49-F238E27FC236}">
                <a16:creationId xmlns:a16="http://schemas.microsoft.com/office/drawing/2014/main" id="{3A06C95C-4FDC-1972-CFCB-8D284B26EF88}"/>
              </a:ext>
            </a:extLst>
          </p:cNvPr>
          <p:cNvCxnSpPr>
            <a:cxnSpLocks/>
            <a:stCxn id="49" idx="2"/>
            <a:endCxn id="38" idx="0"/>
          </p:cNvCxnSpPr>
          <p:nvPr/>
        </p:nvCxnSpPr>
        <p:spPr>
          <a:xfrm flipH="1">
            <a:off x="6899159" y="3779122"/>
            <a:ext cx="3968593" cy="947852"/>
          </a:xfrm>
          <a:prstGeom prst="line">
            <a:avLst/>
          </a:prstGeom>
          <a:ln w="12700">
            <a:solidFill>
              <a:srgbClr val="C03B2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DC36ACB0-FBBA-1391-2297-2FDADC8F3453}"/>
              </a:ext>
            </a:extLst>
          </p:cNvPr>
          <p:cNvSpPr txBox="1"/>
          <p:nvPr/>
        </p:nvSpPr>
        <p:spPr>
          <a:xfrm rot="20840578">
            <a:off x="9489397" y="3846185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C03B2E"/>
                </a:solidFill>
                <a:latin typeface="Calibri"/>
              </a:rPr>
              <a:t>✗ denied</a:t>
            </a:r>
          </a:p>
        </p:txBody>
      </p:sp>
      <p:cxnSp>
        <p:nvCxnSpPr>
          <p:cNvPr id="73" name="Connector 23">
            <a:extLst>
              <a:ext uri="{FF2B5EF4-FFF2-40B4-BE49-F238E27FC236}">
                <a16:creationId xmlns:a16="http://schemas.microsoft.com/office/drawing/2014/main" id="{4BF1C737-DAFD-01A0-2E72-C1836EAA5A77}"/>
              </a:ext>
            </a:extLst>
          </p:cNvPr>
          <p:cNvCxnSpPr>
            <a:cxnSpLocks/>
            <a:stCxn id="35" idx="2"/>
            <a:endCxn id="39" idx="1"/>
          </p:cNvCxnSpPr>
          <p:nvPr/>
        </p:nvCxnSpPr>
        <p:spPr>
          <a:xfrm>
            <a:off x="6976180" y="3721984"/>
            <a:ext cx="1414190" cy="1360217"/>
          </a:xfrm>
          <a:prstGeom prst="line">
            <a:avLst/>
          </a:prstGeom>
          <a:ln w="12700">
            <a:solidFill>
              <a:srgbClr val="C03B2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01E5DC9D-AE01-2A00-E18B-7145D1A0B070}"/>
              </a:ext>
            </a:extLst>
          </p:cNvPr>
          <p:cNvSpPr txBox="1"/>
          <p:nvPr/>
        </p:nvSpPr>
        <p:spPr>
          <a:xfrm rot="2591742">
            <a:off x="7280905" y="4128348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C03B2E"/>
                </a:solidFill>
                <a:latin typeface="Calibri"/>
              </a:rPr>
              <a:t>✗ denied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BCC65EC-0A3F-BBD5-1152-8BEFEA2809D0}"/>
              </a:ext>
            </a:extLst>
          </p:cNvPr>
          <p:cNvSpPr txBox="1"/>
          <p:nvPr/>
        </p:nvSpPr>
        <p:spPr>
          <a:xfrm rot="1029337">
            <a:off x="9122325" y="4311196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3FA766"/>
                </a:solidFill>
                <a:latin typeface="Calibri"/>
              </a:rPr>
              <a:t>✓ allowed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2B40215-19B5-83B3-D055-648F3F0DB364}"/>
              </a:ext>
            </a:extLst>
          </p:cNvPr>
          <p:cNvSpPr txBox="1"/>
          <p:nvPr/>
        </p:nvSpPr>
        <p:spPr>
          <a:xfrm>
            <a:off x="899834" y="2674459"/>
            <a:ext cx="5467229" cy="8393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03000"/>
              </a:lnSpc>
            </a:pPr>
            <a:r>
              <a:rPr lang="en-US" sz="2400" dirty="0">
                <a:solidFill>
                  <a:srgbClr val="1F2937"/>
                </a:solidFill>
              </a:rPr>
              <a:t>Every one of those calls must carry </a:t>
            </a:r>
            <a:r>
              <a:rPr lang="en-US" sz="2400" b="1" dirty="0">
                <a:solidFill>
                  <a:srgbClr val="1F2937"/>
                </a:solidFill>
              </a:rPr>
              <a:t>exactly</a:t>
            </a:r>
            <a:r>
              <a:rPr lang="en-US" sz="2400" dirty="0">
                <a:solidFill>
                  <a:srgbClr val="1F2937"/>
                </a:solidFill>
              </a:rPr>
              <a:t> the right </a:t>
            </a:r>
            <a:r>
              <a:rPr lang="en-US" sz="2400" b="1" i="1" dirty="0">
                <a:solidFill>
                  <a:srgbClr val="1F2937"/>
                </a:solidFill>
              </a:rPr>
              <a:t>permissions</a:t>
            </a:r>
            <a:r>
              <a:rPr lang="en-US" sz="2400" dirty="0">
                <a:solidFill>
                  <a:srgbClr val="1F2937"/>
                </a:solidFill>
              </a:rPr>
              <a:t> — no more, no less</a:t>
            </a:r>
            <a:endParaRPr sz="2400" i="1" dirty="0">
              <a:solidFill>
                <a:schemeClr val="accent1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CE29E8D5-9B81-4084-ABA1-4C089571862B}"/>
              </a:ext>
            </a:extLst>
          </p:cNvPr>
          <p:cNvSpPr/>
          <p:nvPr/>
        </p:nvSpPr>
        <p:spPr>
          <a:xfrm>
            <a:off x="597030" y="3060571"/>
            <a:ext cx="101600" cy="10160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Folded Corner 78">
            <a:extLst>
              <a:ext uri="{FF2B5EF4-FFF2-40B4-BE49-F238E27FC236}">
                <a16:creationId xmlns:a16="http://schemas.microsoft.com/office/drawing/2014/main" id="{3365BDD9-6A40-F498-FB41-CAE7ED5C9AA8}"/>
              </a:ext>
            </a:extLst>
          </p:cNvPr>
          <p:cNvSpPr/>
          <p:nvPr/>
        </p:nvSpPr>
        <p:spPr>
          <a:xfrm>
            <a:off x="8712632" y="917737"/>
            <a:ext cx="1294399" cy="428677"/>
          </a:xfrm>
          <a:prstGeom prst="foldedCorner">
            <a:avLst/>
          </a:prstGeom>
          <a:gradFill>
            <a:gsLst>
              <a:gs pos="51000">
                <a:srgbClr val="7BAAEE">
                  <a:alpha val="52000"/>
                </a:srgbClr>
              </a:gs>
              <a:gs pos="0">
                <a:schemeClr val="accent1">
                  <a:tint val="100000"/>
                  <a:shade val="100000"/>
                  <a:satMod val="130000"/>
                  <a:alpha val="55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Policy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F678327-D2F2-5202-0C69-0B64828323C0}"/>
              </a:ext>
            </a:extLst>
          </p:cNvPr>
          <p:cNvSpPr txBox="1"/>
          <p:nvPr/>
        </p:nvSpPr>
        <p:spPr>
          <a:xfrm rot="1059824">
            <a:off x="9906396" y="2915838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C03B2E"/>
                </a:solidFill>
                <a:latin typeface="Calibri"/>
              </a:rPr>
              <a:t>✗ denied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4121494-1B37-3CB6-1FA3-34FBA92797D0}"/>
              </a:ext>
            </a:extLst>
          </p:cNvPr>
          <p:cNvSpPr txBox="1"/>
          <p:nvPr/>
        </p:nvSpPr>
        <p:spPr>
          <a:xfrm rot="3339885">
            <a:off x="8213524" y="2700601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C03B2E"/>
                </a:solidFill>
                <a:latin typeface="Calibri"/>
              </a:rPr>
              <a:t>✗ denied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ED890E1-6E31-2EB0-C247-8D4EBF1B9B8A}"/>
              </a:ext>
            </a:extLst>
          </p:cNvPr>
          <p:cNvSpPr txBox="1"/>
          <p:nvPr/>
        </p:nvSpPr>
        <p:spPr>
          <a:xfrm rot="261937">
            <a:off x="7649513" y="3340517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C03B2E"/>
                </a:solidFill>
                <a:latin typeface="Calibri"/>
              </a:rPr>
              <a:t>✗ denied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DE4AB-1D7A-CF5A-A674-531911188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C4F22D-3ECF-4B06-6622-DB1D5E7F65E7}"/>
              </a:ext>
            </a:extLst>
          </p:cNvPr>
          <p:cNvSpPr txBox="1"/>
          <p:nvPr/>
        </p:nvSpPr>
        <p:spPr>
          <a:xfrm>
            <a:off x="640080" y="36576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8A80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6A221E-19D3-1673-6B27-BEA0CEEF69F0}"/>
              </a:ext>
            </a:extLst>
          </p:cNvPr>
          <p:cNvSpPr txBox="1"/>
          <p:nvPr/>
        </p:nvSpPr>
        <p:spPr>
          <a:xfrm>
            <a:off x="640080" y="685800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61F36"/>
                </a:solidFill>
                <a:latin typeface="Calibri"/>
              </a:rPr>
              <a:t>Access control (AC) in agentic world</a:t>
            </a:r>
            <a:endParaRPr sz="2900" b="1" i="0" dirty="0">
              <a:solidFill>
                <a:srgbClr val="161F36"/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1C8D33-C0C3-6E32-94F6-8DC166538DC8}"/>
              </a:ext>
            </a:extLst>
          </p:cNvPr>
          <p:cNvSpPr/>
          <p:nvPr/>
        </p:nvSpPr>
        <p:spPr>
          <a:xfrm>
            <a:off x="640080" y="1325880"/>
            <a:ext cx="914400" cy="508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469C8B0-D11F-31B1-8148-719A1A89D5A4}"/>
              </a:ext>
            </a:extLst>
          </p:cNvPr>
          <p:cNvSpPr/>
          <p:nvPr/>
        </p:nvSpPr>
        <p:spPr>
          <a:xfrm>
            <a:off x="640080" y="2053761"/>
            <a:ext cx="101600" cy="10160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0E2F67-1742-F3FC-3053-F34AD36D24F7}"/>
              </a:ext>
            </a:extLst>
          </p:cNvPr>
          <p:cNvSpPr txBox="1"/>
          <p:nvPr/>
        </p:nvSpPr>
        <p:spPr>
          <a:xfrm>
            <a:off x="932688" y="1917965"/>
            <a:ext cx="10588752" cy="1219757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03000"/>
              </a:lnSpc>
            </a:pPr>
            <a:r>
              <a:rPr lang="en-IL" sz="2400" b="1" dirty="0">
                <a:solidFill>
                  <a:srgbClr val="161F36"/>
                </a:solidFill>
                <a:latin typeface="Calibri"/>
              </a:rPr>
              <a:t>AC answers</a:t>
            </a:r>
            <a:r>
              <a:rPr lang="en-IL" sz="2400" dirty="0">
                <a:solidFill>
                  <a:srgbClr val="1F2937"/>
                </a:solidFill>
                <a:latin typeface="+mj-lt"/>
              </a:rPr>
              <a:t> : </a:t>
            </a:r>
            <a:r>
              <a:rPr sz="2400" dirty="0">
                <a:solidFill>
                  <a:srgbClr val="1F2937"/>
                </a:solidFill>
                <a:latin typeface="+mj-lt"/>
              </a:rPr>
              <a:t>can caller</a:t>
            </a:r>
            <a:r>
              <a:rPr lang="en-US" sz="2400" dirty="0">
                <a:solidFill>
                  <a:srgbClr val="1F2937"/>
                </a:solidFill>
                <a:latin typeface="+mj-lt"/>
              </a:rPr>
              <a:t> ‘X’</a:t>
            </a:r>
            <a:r>
              <a:rPr sz="2400" dirty="0">
                <a:solidFill>
                  <a:srgbClr val="1F2937"/>
                </a:solidFill>
                <a:latin typeface="+mj-lt"/>
              </a:rPr>
              <a:t> take action</a:t>
            </a:r>
            <a:r>
              <a:rPr lang="en-US" sz="2400" dirty="0">
                <a:solidFill>
                  <a:srgbClr val="1F2937"/>
                </a:solidFill>
                <a:latin typeface="+mj-lt"/>
              </a:rPr>
              <a:t> ‘A’ on resource ‘R’</a:t>
            </a:r>
            <a:r>
              <a:rPr sz="2400" dirty="0">
                <a:solidFill>
                  <a:srgbClr val="1F2937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1F2937"/>
                </a:solidFill>
                <a:latin typeface="+mj-lt"/>
              </a:rPr>
              <a:t>with conditions ‘C’</a:t>
            </a:r>
            <a:r>
              <a:rPr sz="2400" dirty="0">
                <a:solidFill>
                  <a:srgbClr val="1F2937"/>
                </a:solidFill>
                <a:latin typeface="+mj-lt"/>
              </a:rPr>
              <a:t>?</a:t>
            </a:r>
            <a:r>
              <a:rPr lang="en-US" sz="2400" dirty="0">
                <a:solidFill>
                  <a:srgbClr val="1F2937"/>
                </a:solidFill>
                <a:latin typeface="+mj-lt"/>
              </a:rPr>
              <a:t> (X,A,R,C)</a:t>
            </a:r>
          </a:p>
          <a:p>
            <a:pPr marL="342900" indent="-342900">
              <a:lnSpc>
                <a:spcPct val="103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+mj-lt"/>
              </a:rPr>
              <a:t>user ‘</a:t>
            </a:r>
            <a:r>
              <a:rPr lang="en-US" sz="2400" i="1" dirty="0">
                <a:solidFill>
                  <a:schemeClr val="accent1"/>
                </a:solidFill>
                <a:latin typeface="+mj-lt"/>
              </a:rPr>
              <a:t>john</a:t>
            </a:r>
            <a:r>
              <a:rPr lang="en-US" sz="2400" dirty="0">
                <a:solidFill>
                  <a:srgbClr val="1F2937"/>
                </a:solidFill>
                <a:latin typeface="+mj-lt"/>
              </a:rPr>
              <a:t>’ can ‘</a:t>
            </a:r>
            <a:r>
              <a:rPr lang="en-US" sz="2400" i="1" dirty="0">
                <a:solidFill>
                  <a:schemeClr val="accent1"/>
                </a:solidFill>
                <a:latin typeface="+mj-lt"/>
              </a:rPr>
              <a:t>read</a:t>
            </a:r>
            <a:r>
              <a:rPr lang="en-US" sz="2400" dirty="0">
                <a:solidFill>
                  <a:srgbClr val="1F2937"/>
                </a:solidFill>
                <a:latin typeface="+mj-lt"/>
              </a:rPr>
              <a:t>’ doc ‘</a:t>
            </a:r>
            <a:r>
              <a:rPr lang="en-US" sz="2400" i="1" dirty="0" err="1">
                <a:solidFill>
                  <a:schemeClr val="accent1"/>
                </a:solidFill>
                <a:latin typeface="+mj-lt"/>
              </a:rPr>
              <a:t>arch.md</a:t>
            </a:r>
            <a:r>
              <a:rPr lang="en-US" sz="2400" dirty="0">
                <a:solidFill>
                  <a:srgbClr val="1F2937"/>
                </a:solidFill>
                <a:latin typeface="+mj-lt"/>
              </a:rPr>
              <a:t>’</a:t>
            </a:r>
          </a:p>
          <a:p>
            <a:pPr marL="342900" indent="-342900">
              <a:lnSpc>
                <a:spcPct val="103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+mj-lt"/>
              </a:rPr>
              <a:t>agent </a:t>
            </a:r>
            <a:r>
              <a:rPr lang="en-US" sz="2400" dirty="0">
                <a:solidFill>
                  <a:srgbClr val="1F2937"/>
                </a:solidFill>
              </a:rPr>
              <a:t>‘</a:t>
            </a:r>
            <a:r>
              <a:rPr lang="en-US" sz="2400" i="1" dirty="0" err="1">
                <a:solidFill>
                  <a:schemeClr val="accent1"/>
                </a:solidFill>
              </a:rPr>
              <a:t>booka</a:t>
            </a:r>
            <a:r>
              <a:rPr lang="en-US" sz="2400" i="1" dirty="0" err="1">
                <a:solidFill>
                  <a:schemeClr val="accent1"/>
                </a:solidFill>
                <a:latin typeface="+mj-lt"/>
              </a:rPr>
              <a:t>g</a:t>
            </a:r>
            <a:r>
              <a:rPr lang="en-US" sz="2400" i="1" dirty="0">
                <a:solidFill>
                  <a:schemeClr val="accent1"/>
                </a:solidFill>
                <a:latin typeface="+mj-lt"/>
              </a:rPr>
              <a:t>-ai</a:t>
            </a:r>
            <a:r>
              <a:rPr lang="en-US" sz="2400" dirty="0">
                <a:solidFill>
                  <a:srgbClr val="1F2937"/>
                </a:solidFill>
              </a:rPr>
              <a:t>’ can ‘</a:t>
            </a:r>
            <a:r>
              <a:rPr lang="en-US" sz="2400" i="1" dirty="0">
                <a:solidFill>
                  <a:schemeClr val="accent1"/>
                </a:solidFill>
              </a:rPr>
              <a:t>invoke</a:t>
            </a:r>
            <a:r>
              <a:rPr lang="en-US" sz="2400" dirty="0">
                <a:solidFill>
                  <a:srgbClr val="1F2937"/>
                </a:solidFill>
              </a:rPr>
              <a:t>’ tool ‘</a:t>
            </a:r>
            <a:r>
              <a:rPr lang="en-US" sz="2400" i="1" dirty="0">
                <a:solidFill>
                  <a:schemeClr val="accent1"/>
                </a:solidFill>
              </a:rPr>
              <a:t>book-flight</a:t>
            </a:r>
            <a:r>
              <a:rPr lang="en-US" sz="2400" dirty="0">
                <a:solidFill>
                  <a:srgbClr val="1F2937"/>
                </a:solidFill>
              </a:rPr>
              <a:t>’</a:t>
            </a:r>
            <a:r>
              <a:rPr lang="en-US" sz="2400" dirty="0">
                <a:solidFill>
                  <a:srgbClr val="1F2937"/>
                </a:solidFill>
                <a:latin typeface="+mj-lt"/>
              </a:rPr>
              <a:t> on behalf of ‘</a:t>
            </a:r>
            <a:r>
              <a:rPr lang="en-US" sz="2400" i="1" dirty="0">
                <a:solidFill>
                  <a:schemeClr val="accent1"/>
                </a:solidFill>
              </a:rPr>
              <a:t>travel-ag</a:t>
            </a:r>
            <a:r>
              <a:rPr lang="en-US" sz="2400" dirty="0">
                <a:solidFill>
                  <a:srgbClr val="1F2937"/>
                </a:solidFill>
              </a:rPr>
              <a:t> ’</a:t>
            </a:r>
            <a:endParaRPr sz="2400" i="1" dirty="0">
              <a:solidFill>
                <a:schemeClr val="accent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275164C-A65D-B5F3-923C-1C85CD445E3E}"/>
              </a:ext>
            </a:extLst>
          </p:cNvPr>
          <p:cNvSpPr/>
          <p:nvPr/>
        </p:nvSpPr>
        <p:spPr>
          <a:xfrm>
            <a:off x="822960" y="3720279"/>
            <a:ext cx="18288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8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/>
            <a:r>
              <a:rPr sz="1300" b="1">
                <a:solidFill>
                  <a:srgbClr val="161F36"/>
                </a:solidFill>
                <a:latin typeface="Calibri"/>
              </a:rPr>
              <a:t>User</a:t>
            </a:r>
          </a:p>
          <a:p>
            <a:pPr algn="ctr"/>
            <a:r>
              <a:rPr sz="1000">
                <a:solidFill>
                  <a:srgbClr val="6B7480"/>
                </a:solidFill>
                <a:latin typeface="Calibri"/>
              </a:rPr>
              <a:t>makes a request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58712D4-8181-4971-585B-4B41FF526FCE}"/>
              </a:ext>
            </a:extLst>
          </p:cNvPr>
          <p:cNvSpPr/>
          <p:nvPr/>
        </p:nvSpPr>
        <p:spPr>
          <a:xfrm>
            <a:off x="3337560" y="3720279"/>
            <a:ext cx="1828800" cy="777240"/>
          </a:xfrm>
          <a:prstGeom prst="roundRect">
            <a:avLst/>
          </a:prstGeom>
          <a:solidFill>
            <a:srgbClr val="E3F7F5"/>
          </a:solidFill>
          <a:ln w="19050">
            <a:solidFill>
              <a:srgbClr val="1B8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/>
            <a:r>
              <a:rPr sz="1300" b="1">
                <a:solidFill>
                  <a:srgbClr val="161F36"/>
                </a:solidFill>
                <a:latin typeface="Calibri"/>
              </a:rPr>
              <a:t>AI Agent</a:t>
            </a:r>
          </a:p>
          <a:p>
            <a:pPr algn="ctr"/>
            <a:r>
              <a:rPr sz="1000">
                <a:solidFill>
                  <a:srgbClr val="6B7480"/>
                </a:solidFill>
                <a:latin typeface="Calibri"/>
              </a:rPr>
              <a:t>acts on their behalf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3A6FEEE-9CC5-8140-4A0E-B9428D874EF2}"/>
              </a:ext>
            </a:extLst>
          </p:cNvPr>
          <p:cNvSpPr/>
          <p:nvPr/>
        </p:nvSpPr>
        <p:spPr>
          <a:xfrm>
            <a:off x="5852160" y="3720279"/>
            <a:ext cx="18288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8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/>
            <a:r>
              <a:rPr lang="en-US" sz="1300" b="1" dirty="0">
                <a:solidFill>
                  <a:srgbClr val="161F36"/>
                </a:solidFill>
                <a:latin typeface="Calibri"/>
              </a:rPr>
              <a:t>Agent/ </a:t>
            </a:r>
            <a:r>
              <a:rPr sz="1300" b="1" dirty="0">
                <a:solidFill>
                  <a:srgbClr val="161F36"/>
                </a:solidFill>
                <a:latin typeface="Calibri"/>
              </a:rPr>
              <a:t>Tool / API</a:t>
            </a:r>
          </a:p>
          <a:p>
            <a:pPr algn="ctr"/>
            <a:r>
              <a:rPr sz="1000" dirty="0">
                <a:solidFill>
                  <a:srgbClr val="6B7480"/>
                </a:solidFill>
                <a:latin typeface="Calibri"/>
              </a:rPr>
              <a:t>does the work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1D54E0D-0890-83D3-C946-E5B796CB4EE9}"/>
              </a:ext>
            </a:extLst>
          </p:cNvPr>
          <p:cNvSpPr/>
          <p:nvPr/>
        </p:nvSpPr>
        <p:spPr>
          <a:xfrm>
            <a:off x="8366760" y="3720279"/>
            <a:ext cx="18288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8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/>
            <a:r>
              <a:rPr sz="1300" b="1">
                <a:solidFill>
                  <a:srgbClr val="161F36"/>
                </a:solidFill>
                <a:latin typeface="Calibri"/>
              </a:rPr>
              <a:t>Data</a:t>
            </a:r>
          </a:p>
          <a:p>
            <a:pPr algn="ctr"/>
            <a:r>
              <a:rPr sz="1000">
                <a:solidFill>
                  <a:srgbClr val="6B7480"/>
                </a:solidFill>
                <a:latin typeface="Calibri"/>
              </a:rPr>
              <a:t>the target resource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586C75-8C1E-07AD-D5ED-737D14865B2B}"/>
              </a:ext>
            </a:extLst>
          </p:cNvPr>
          <p:cNvSpPr/>
          <p:nvPr/>
        </p:nvSpPr>
        <p:spPr>
          <a:xfrm>
            <a:off x="2651760" y="4093024"/>
            <a:ext cx="557784" cy="31750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239F52ED-F1A6-9A3F-9106-205CA5099BB4}"/>
              </a:ext>
            </a:extLst>
          </p:cNvPr>
          <p:cNvSpPr/>
          <p:nvPr/>
        </p:nvSpPr>
        <p:spPr>
          <a:xfrm rot="5400000">
            <a:off x="3209544" y="4035747"/>
            <a:ext cx="128016" cy="146304"/>
          </a:xfrm>
          <a:prstGeom prst="triangle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BE256BC3-711A-803B-BCE8-371A96C42AB9}"/>
              </a:ext>
            </a:extLst>
          </p:cNvPr>
          <p:cNvSpPr/>
          <p:nvPr/>
        </p:nvSpPr>
        <p:spPr>
          <a:xfrm>
            <a:off x="2768346" y="3960094"/>
            <a:ext cx="292608" cy="292608"/>
          </a:xfrm>
          <a:prstGeom prst="diamond">
            <a:avLst/>
          </a:prstGeom>
          <a:solidFill>
            <a:srgbClr val="E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?</a:t>
            </a:r>
            <a:endParaRPr sz="14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7D0BD9-92A7-E71D-BEBC-231F96CBA01E}"/>
              </a:ext>
            </a:extLst>
          </p:cNvPr>
          <p:cNvSpPr/>
          <p:nvPr/>
        </p:nvSpPr>
        <p:spPr>
          <a:xfrm>
            <a:off x="5166360" y="4093024"/>
            <a:ext cx="557784" cy="31750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1656ECA7-CA88-FE3D-5D6C-DAE106D682A8}"/>
              </a:ext>
            </a:extLst>
          </p:cNvPr>
          <p:cNvSpPr/>
          <p:nvPr/>
        </p:nvSpPr>
        <p:spPr>
          <a:xfrm rot="5400000">
            <a:off x="5724144" y="4035747"/>
            <a:ext cx="128016" cy="146304"/>
          </a:xfrm>
          <a:prstGeom prst="triangle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55EA3DF3-B4B9-2BCB-C98D-ED039FBB8B73}"/>
              </a:ext>
            </a:extLst>
          </p:cNvPr>
          <p:cNvSpPr/>
          <p:nvPr/>
        </p:nvSpPr>
        <p:spPr>
          <a:xfrm>
            <a:off x="5298948" y="3953448"/>
            <a:ext cx="292608" cy="292608"/>
          </a:xfrm>
          <a:prstGeom prst="diamond">
            <a:avLst/>
          </a:prstGeom>
          <a:solidFill>
            <a:srgbClr val="E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5950E5-C0B9-ED88-66B2-F77A972136DE}"/>
              </a:ext>
            </a:extLst>
          </p:cNvPr>
          <p:cNvSpPr/>
          <p:nvPr/>
        </p:nvSpPr>
        <p:spPr>
          <a:xfrm>
            <a:off x="7680960" y="4093024"/>
            <a:ext cx="557784" cy="31750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CDDE6C64-9244-DE30-92D4-F754319DA699}"/>
              </a:ext>
            </a:extLst>
          </p:cNvPr>
          <p:cNvSpPr/>
          <p:nvPr/>
        </p:nvSpPr>
        <p:spPr>
          <a:xfrm rot="5400000">
            <a:off x="8238744" y="4035747"/>
            <a:ext cx="128016" cy="146304"/>
          </a:xfrm>
          <a:prstGeom prst="triangle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BE5B20BF-AFAF-987A-0F17-416C575C195B}"/>
              </a:ext>
            </a:extLst>
          </p:cNvPr>
          <p:cNvSpPr/>
          <p:nvPr/>
        </p:nvSpPr>
        <p:spPr>
          <a:xfrm>
            <a:off x="7818120" y="3953448"/>
            <a:ext cx="292608" cy="292608"/>
          </a:xfrm>
          <a:prstGeom prst="diamond">
            <a:avLst/>
          </a:prstGeom>
          <a:solidFill>
            <a:srgbClr val="E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78325A-FBBD-4278-0412-43929B532CAD}"/>
              </a:ext>
            </a:extLst>
          </p:cNvPr>
          <p:cNvSpPr txBox="1"/>
          <p:nvPr/>
        </p:nvSpPr>
        <p:spPr>
          <a:xfrm>
            <a:off x="3593156" y="4766400"/>
            <a:ext cx="448926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 dirty="0">
                <a:solidFill>
                  <a:srgbClr val="6B7480"/>
                </a:solidFill>
                <a:latin typeface="Calibri"/>
              </a:rPr>
              <a:t>Every hop is an access decision — allow or deny.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E15182-034E-8F99-39AA-376A3EE5EC89}"/>
              </a:ext>
            </a:extLst>
          </p:cNvPr>
          <p:cNvSpPr txBox="1"/>
          <p:nvPr/>
        </p:nvSpPr>
        <p:spPr>
          <a:xfrm>
            <a:off x="640080" y="521249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AIAC — AI Access Control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063391-897F-E31A-E468-8ACCCCDE7112}"/>
              </a:ext>
            </a:extLst>
          </p:cNvPr>
          <p:cNvSpPr txBox="1"/>
          <p:nvPr/>
        </p:nvSpPr>
        <p:spPr>
          <a:xfrm>
            <a:off x="11064240" y="5212492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1"/>
                </a:solidFill>
                <a:latin typeface="Calibri"/>
              </a:rPr>
              <a:t>2</a:t>
            </a:r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E17133F2-BEFA-23C9-CC13-81F1973A4430}"/>
              </a:ext>
            </a:extLst>
          </p:cNvPr>
          <p:cNvSpPr/>
          <p:nvPr/>
        </p:nvSpPr>
        <p:spPr>
          <a:xfrm>
            <a:off x="3593156" y="4793774"/>
            <a:ext cx="170798" cy="191472"/>
          </a:xfrm>
          <a:prstGeom prst="diamond">
            <a:avLst/>
          </a:prstGeom>
          <a:solidFill>
            <a:srgbClr val="E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28448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36576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8A80"/>
                </a:solidFill>
                <a:latin typeface="Calibri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418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2800" b="1" dirty="0">
                <a:solidFill>
                  <a:srgbClr val="14181F"/>
                </a:solidFill>
                <a:latin typeface="Arial Narrow"/>
              </a:rPr>
              <a:t>Why automate governance  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914400" cy="508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5160" y="1679172"/>
            <a:ext cx="101600" cy="10160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7" y="1451955"/>
            <a:ext cx="8178655" cy="120975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03000"/>
              </a:lnSpc>
            </a:pPr>
            <a:r>
              <a:rPr lang="en-US" sz="2400" dirty="0">
                <a:solidFill>
                  <a:schemeClr val="accent4"/>
                </a:solidFill>
                <a:latin typeface="Georgia"/>
              </a:rPr>
              <a:t>D</a:t>
            </a:r>
            <a:r>
              <a:rPr sz="2400" dirty="0">
                <a:solidFill>
                  <a:schemeClr val="accent4"/>
                </a:solidFill>
                <a:latin typeface="Georgia"/>
              </a:rPr>
              <a:t>rift</a:t>
            </a:r>
            <a:r>
              <a:rPr sz="2400" dirty="0">
                <a:solidFill>
                  <a:srgbClr val="5B6472"/>
                </a:solidFill>
                <a:latin typeface="Georgia"/>
              </a:rPr>
              <a:t>: </a:t>
            </a:r>
            <a:r>
              <a:rPr lang="en-US" sz="2400" dirty="0">
                <a:solidFill>
                  <a:srgbClr val="5B6472"/>
                </a:solidFill>
                <a:latin typeface="Georgia"/>
              </a:rPr>
              <a:t>new services and roles get onboarded without anyone updating what they’re allowed to access. Permissions silently fall out of date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50009"/>
            <a:ext cx="101600" cy="10160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7" y="2796652"/>
            <a:ext cx="8418141" cy="1590179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03000"/>
              </a:lnSpc>
            </a:pPr>
            <a:r>
              <a:rPr lang="en-US" sz="2400" dirty="0">
                <a:solidFill>
                  <a:schemeClr val="accent4"/>
                </a:solidFill>
                <a:latin typeface="Georgia"/>
              </a:rPr>
              <a:t>Scale</a:t>
            </a:r>
            <a:r>
              <a:rPr lang="en-US" sz="2000" b="1" dirty="0">
                <a:solidFill>
                  <a:srgbClr val="161F36"/>
                </a:solidFill>
                <a:latin typeface="Calibri"/>
              </a:rPr>
              <a:t> : </a:t>
            </a:r>
            <a:r>
              <a:rPr sz="2400" dirty="0">
                <a:solidFill>
                  <a:srgbClr val="5B6472"/>
                </a:solidFill>
                <a:latin typeface="Georgia"/>
              </a:rPr>
              <a:t>Agents are </a:t>
            </a:r>
            <a:r>
              <a:rPr sz="2400" i="1" dirty="0">
                <a:solidFill>
                  <a:schemeClr val="tx2"/>
                </a:solidFill>
                <a:latin typeface="Calibri"/>
              </a:rPr>
              <a:t>autonomous</a:t>
            </a:r>
            <a:r>
              <a:rPr sz="2400" dirty="0">
                <a:solidFill>
                  <a:srgbClr val="5B6472"/>
                </a:solidFill>
                <a:latin typeface="Georgia"/>
              </a:rPr>
              <a:t>, and there are</a:t>
            </a:r>
            <a:r>
              <a:rPr sz="2400" i="1" dirty="0">
                <a:solidFill>
                  <a:schemeClr val="tx2"/>
                </a:solidFill>
                <a:latin typeface="Calibri"/>
              </a:rPr>
              <a:t> a lot </a:t>
            </a:r>
            <a:r>
              <a:rPr sz="2400" dirty="0">
                <a:solidFill>
                  <a:srgbClr val="5B6472"/>
                </a:solidFill>
                <a:latin typeface="Georgia"/>
              </a:rPr>
              <a:t>of the</a:t>
            </a:r>
            <a:r>
              <a:rPr lang="en-US" sz="2400" dirty="0">
                <a:solidFill>
                  <a:srgbClr val="5B6472"/>
                </a:solidFill>
                <a:latin typeface="Georgia"/>
              </a:rPr>
              <a:t>m. Keeping permissions consistent for a </a:t>
            </a:r>
            <a:r>
              <a:rPr lang="en-US" sz="2400" i="1" dirty="0">
                <a:solidFill>
                  <a:schemeClr val="tx2"/>
                </a:solidFill>
                <a:latin typeface="Calibri"/>
              </a:rPr>
              <a:t>growing agent fleet </a:t>
            </a:r>
            <a:r>
              <a:rPr lang="en-US" sz="2400" dirty="0">
                <a:solidFill>
                  <a:srgbClr val="5B6472"/>
                </a:solidFill>
                <a:latin typeface="Georgia"/>
              </a:rPr>
              <a:t>requires constant human attention, and leaves </a:t>
            </a:r>
            <a:r>
              <a:rPr lang="en-US" sz="2400" i="1" dirty="0">
                <a:solidFill>
                  <a:schemeClr val="tx2"/>
                </a:solidFill>
                <a:latin typeface="Calibri"/>
              </a:rPr>
              <a:t>no audit trail </a:t>
            </a:r>
            <a:r>
              <a:rPr lang="en-US" sz="2400" dirty="0">
                <a:solidFill>
                  <a:srgbClr val="5B6472"/>
                </a:solidFill>
                <a:latin typeface="Georgia"/>
              </a:rPr>
              <a:t>of why access was granted.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735599"/>
            <a:ext cx="101600" cy="10160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4520381"/>
            <a:ext cx="8897112" cy="120975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03000"/>
              </a:lnSpc>
            </a:pPr>
            <a:r>
              <a:rPr lang="en-US" sz="2400" dirty="0">
                <a:solidFill>
                  <a:schemeClr val="accent4"/>
                </a:solidFill>
                <a:latin typeface="Georgia"/>
              </a:rPr>
              <a:t>Fragmentation</a:t>
            </a:r>
            <a:r>
              <a:rPr sz="2000" b="1" dirty="0">
                <a:solidFill>
                  <a:srgbClr val="161F36"/>
                </a:solidFill>
                <a:latin typeface="Calibri"/>
              </a:rPr>
              <a:t>: </a:t>
            </a:r>
            <a:r>
              <a:rPr lang="en-US" sz="2400" i="1" dirty="0">
                <a:solidFill>
                  <a:schemeClr val="tx2"/>
                </a:solidFill>
                <a:latin typeface="Calibri"/>
              </a:rPr>
              <a:t>no single authoritative </a:t>
            </a:r>
            <a:r>
              <a:rPr lang="en-US" sz="2400" dirty="0">
                <a:solidFill>
                  <a:srgbClr val="5B6472"/>
                </a:solidFill>
                <a:latin typeface="Georgia"/>
              </a:rPr>
              <a:t>statement of "what a role may do" — policies are </a:t>
            </a:r>
            <a:r>
              <a:rPr lang="en-US" sz="2400" i="1" dirty="0">
                <a:solidFill>
                  <a:schemeClr val="tx2"/>
                </a:solidFill>
                <a:latin typeface="Calibri"/>
              </a:rPr>
              <a:t>scattered</a:t>
            </a:r>
            <a:r>
              <a:rPr lang="en-US" sz="2400" dirty="0">
                <a:solidFill>
                  <a:srgbClr val="5B6472"/>
                </a:solidFill>
                <a:latin typeface="Georgia"/>
              </a:rPr>
              <a:t> across per-deployment configuration.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AIAC — AI Access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51052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1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8A80"/>
                </a:solidFill>
                <a:latin typeface="Calibri"/>
              </a:rP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 dirty="0">
                <a:solidFill>
                  <a:srgbClr val="161F36"/>
                </a:solidFill>
                <a:latin typeface="Calibri"/>
              </a:rPr>
              <a:t>AIAC </a:t>
            </a:r>
            <a:r>
              <a:rPr lang="en-US" sz="2900" b="1" i="0" dirty="0">
                <a:solidFill>
                  <a:srgbClr val="161F36"/>
                </a:solidFill>
                <a:latin typeface="Calibri"/>
              </a:rPr>
              <a:t>use cases</a:t>
            </a:r>
            <a:endParaRPr sz="2900" b="1" i="0" dirty="0">
              <a:solidFill>
                <a:srgbClr val="161F36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914400" cy="508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1">
                <a:solidFill>
                  <a:srgbClr val="6B7480"/>
                </a:solidFill>
                <a:latin typeface="Calibri"/>
              </a:rPr>
              <a:t>Three recurring situations — the same mapping engine handles all of them.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1764792"/>
            <a:ext cx="402336" cy="402336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</a:rPr>
              <a:t>*</a:t>
            </a:r>
            <a:endParaRPr sz="15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3447288" cy="50800"/>
          </a:xfrm>
          <a:prstGeom prst="rect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016760"/>
            <a:ext cx="3447288" cy="30124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US" sz="1600" b="1" dirty="0">
                <a:solidFill>
                  <a:srgbClr val="161F36"/>
                </a:solidFill>
                <a:latin typeface="Calibri"/>
              </a:rPr>
              <a:t>Onboarding : Continuous access reconciliation</a:t>
            </a:r>
            <a:endParaRPr sz="1600" b="1" dirty="0">
              <a:solidFill>
                <a:srgbClr val="161F36"/>
              </a:solidFill>
              <a:latin typeface="Calibri"/>
            </a:endParaRP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600" dirty="0">
                <a:solidFill>
                  <a:srgbClr val="1F2937"/>
                </a:solidFill>
                <a:latin typeface="Calibri"/>
              </a:rPr>
              <a:t>A role, client, or policy document changes — AIAC computes the access diff and applies it, automatically or with a human in the loop.</a:t>
            </a:r>
          </a:p>
        </p:txBody>
      </p:sp>
      <p:sp>
        <p:nvSpPr>
          <p:cNvPr id="10" name="Oval 9"/>
          <p:cNvSpPr/>
          <p:nvPr/>
        </p:nvSpPr>
        <p:spPr>
          <a:xfrm>
            <a:off x="4315968" y="1764792"/>
            <a:ext cx="402336" cy="402336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</a:rPr>
              <a:t>*</a:t>
            </a:r>
            <a:endParaRPr sz="15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61688" y="1965960"/>
            <a:ext cx="3447288" cy="50800"/>
          </a:xfrm>
          <a:prstGeom prst="rect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61688" y="2016760"/>
            <a:ext cx="3447288" cy="30124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b="1" dirty="0">
                <a:solidFill>
                  <a:srgbClr val="161F36"/>
                </a:solidFill>
                <a:latin typeface="Calibri"/>
              </a:rPr>
              <a:t>Entitlements review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600" dirty="0">
                <a:solidFill>
                  <a:srgbClr val="1F2937"/>
                </a:solidFill>
                <a:latin typeface="Calibri"/>
              </a:rPr>
              <a:t>On demand or on a schedule, AIAC audits every current rule — including hand-added ones — against the policy and flags </a:t>
            </a:r>
            <a:r>
              <a:rPr lang="en-US" sz="1600" dirty="0">
                <a:solidFill>
                  <a:srgbClr val="1F2937"/>
                </a:solidFill>
                <a:latin typeface="Calibri"/>
              </a:rPr>
              <a:t>violations</a:t>
            </a:r>
            <a:endParaRPr sz="160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037576" y="1764792"/>
            <a:ext cx="402336" cy="402336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</a:rPr>
              <a:t>*</a:t>
            </a:r>
            <a:endParaRPr sz="15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83296" y="1965960"/>
            <a:ext cx="3447288" cy="50800"/>
          </a:xfrm>
          <a:prstGeom prst="rect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83296" y="2016760"/>
            <a:ext cx="3447288" cy="30124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b="1" dirty="0">
                <a:solidFill>
                  <a:srgbClr val="161F36"/>
                </a:solidFill>
                <a:latin typeface="Calibri"/>
              </a:rPr>
              <a:t>Access requests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dirty="0">
                <a:solidFill>
                  <a:srgbClr val="1F2937"/>
                </a:solidFill>
                <a:latin typeface="Calibri"/>
              </a:rPr>
              <a:t>A user asks for access through a chatbot; AIAC checks it against policy and either grants it or routes it to a human approver.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49240"/>
            <a:ext cx="108813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1" dirty="0">
                <a:solidFill>
                  <a:srgbClr val="6B7480"/>
                </a:solidFill>
                <a:latin typeface="Calibri"/>
              </a:rPr>
              <a:t>Guardrails, evaluation harnesses, and human-in-the-loop review apply across all three.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AIAC — AI Access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1052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1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17320" y="320040"/>
            <a:ext cx="9875520" cy="6338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 dirty="0">
                <a:solidFill>
                  <a:srgbClr val="5B6472"/>
                </a:solidFill>
                <a:latin typeface="Arial Narrow"/>
              </a:rPr>
              <a:t>WORK</a:t>
            </a:r>
            <a:r>
              <a:rPr lang="en-US" sz="1200" b="1" i="0" dirty="0">
                <a:solidFill>
                  <a:srgbClr val="5B6472"/>
                </a:solidFill>
                <a:latin typeface="Arial Narrow"/>
              </a:rPr>
              <a:t>ING</a:t>
            </a:r>
            <a:r>
              <a:rPr sz="1200" b="1" i="0" dirty="0">
                <a:solidFill>
                  <a:srgbClr val="5B6472"/>
                </a:solidFill>
                <a:latin typeface="Arial Narrow"/>
              </a:rPr>
              <a:t> EXAMPLE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lang="en-US" sz="2600" b="1" dirty="0">
                <a:solidFill>
                  <a:srgbClr val="14181F"/>
                </a:solidFill>
                <a:latin typeface="Arial Narrow"/>
              </a:rPr>
              <a:t>Initial s</a:t>
            </a:r>
            <a:r>
              <a:rPr lang="en-US" sz="2600" b="1" i="0" dirty="0">
                <a:solidFill>
                  <a:srgbClr val="14181F"/>
                </a:solidFill>
                <a:latin typeface="Arial Narrow"/>
              </a:rPr>
              <a:t>ystem state</a:t>
            </a:r>
            <a:endParaRPr sz="2600" b="1" i="0" dirty="0">
              <a:solidFill>
                <a:srgbClr val="14181F"/>
              </a:solidFill>
              <a:latin typeface="Arial Narrow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8045" y="1571862"/>
            <a:ext cx="10515600" cy="5861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 dirty="0">
                <a:solidFill>
                  <a:srgbClr val="2A2F3A"/>
                </a:solidFill>
                <a:latin typeface="Georgia"/>
              </a:rPr>
              <a:t>A </a:t>
            </a:r>
            <a:r>
              <a:rPr sz="1600" b="0" i="0" dirty="0" err="1">
                <a:solidFill>
                  <a:srgbClr val="2A2F3A"/>
                </a:solidFill>
                <a:latin typeface="Georgia"/>
              </a:rPr>
              <a:t>GitIssueAgent</a:t>
            </a:r>
            <a:r>
              <a:rPr sz="1600" b="0" i="0" dirty="0">
                <a:solidFill>
                  <a:srgbClr val="2A2F3A"/>
                </a:solidFill>
                <a:latin typeface="Georgia"/>
              </a:rPr>
              <a:t> is about to be onboarded, into a system that already has other agents, </a:t>
            </a:r>
            <a:endParaRPr lang="en-US" sz="1600" b="0" i="0" dirty="0">
              <a:solidFill>
                <a:srgbClr val="2A2F3A"/>
              </a:solidFill>
              <a:latin typeface="Georgia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 dirty="0">
                <a:solidFill>
                  <a:srgbClr val="2A2F3A"/>
                </a:solidFill>
                <a:latin typeface="Georgia"/>
              </a:rPr>
              <a:t>other tools, and a governing policy.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rIns="274320" bIns="91440" rtlCol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 dirty="0">
                <a:solidFill>
                  <a:srgbClr val="C17F2E"/>
                </a:solidFill>
                <a:latin typeface="Consolas"/>
              </a:rPr>
              <a:t>GOVERNING POLICY — THE ONLY INPUT AIAC IS HANDED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1" dirty="0">
                <a:solidFill>
                  <a:srgbClr val="FFFFFF"/>
                </a:solidFill>
                <a:latin typeface="Georgia"/>
              </a:rPr>
              <a:t>“Developers can read and update issues. Testers, in addition, can open and close issues.”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37560"/>
            <a:ext cx="2651760" cy="283464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50215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B6472"/>
                </a:solidFill>
                <a:latin typeface="Consolas"/>
              </a:rPr>
              <a:t>PRE-EXISTING ROLES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13048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F1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C17F2E"/>
                </a:solidFill>
                <a:latin typeface="Arial Narrow"/>
              </a:rPr>
              <a:t>HUMAN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4181F"/>
                </a:solidFill>
                <a:latin typeface="Arial Narrow"/>
              </a:rPr>
              <a:t>Developer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4181F"/>
                </a:solidFill>
                <a:latin typeface="Arial Narrow"/>
              </a:rPr>
              <a:t>Tester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64608"/>
            <a:ext cx="1720900" cy="237744"/>
          </a:xfrm>
          <a:prstGeom prst="roundRect">
            <a:avLst>
              <a:gd name="adj" fmla="val 50000"/>
            </a:avLst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2A2F3A"/>
                </a:solidFill>
                <a:latin typeface="Consolas"/>
              </a:rPr>
              <a:t>superset of Developer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3337560"/>
            <a:ext cx="2651760" cy="283464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47872" y="350215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B6472"/>
                </a:solidFill>
                <a:latin typeface="Consolas"/>
              </a:rPr>
              <a:t>PRE-EXISTING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8862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4181F"/>
                </a:solidFill>
                <a:latin typeface="Arial Narrow"/>
              </a:rPr>
              <a:t>IssueHandler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47872" y="4178808"/>
            <a:ext cx="821131" cy="237744"/>
          </a:xfrm>
          <a:prstGeom prst="roundRect">
            <a:avLst>
              <a:gd name="adj" fmla="val 50000"/>
            </a:avLst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2A2F3A"/>
                </a:solidFill>
                <a:latin typeface="Consolas"/>
              </a:rPr>
              <a:t>readIssue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2155" y="4178808"/>
            <a:ext cx="971092" cy="237744"/>
          </a:xfrm>
          <a:prstGeom prst="roundRect">
            <a:avLst>
              <a:gd name="adj" fmla="val 50000"/>
            </a:avLst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2A2F3A"/>
                </a:solidFill>
                <a:latin typeface="Consolas"/>
              </a:rPr>
              <a:t>updateIssue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45262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4181F"/>
                </a:solidFill>
                <a:latin typeface="Arial Narrow"/>
              </a:rPr>
              <a:t>AdminIssues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47872" y="4818888"/>
            <a:ext cx="821131" cy="237744"/>
          </a:xfrm>
          <a:prstGeom prst="roundRect">
            <a:avLst>
              <a:gd name="adj" fmla="val 50000"/>
            </a:avLst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2A2F3A"/>
                </a:solidFill>
                <a:latin typeface="Consolas"/>
              </a:rPr>
              <a:t>openIssue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42155" y="4818888"/>
            <a:ext cx="896112" cy="237744"/>
          </a:xfrm>
          <a:prstGeom prst="roundRect">
            <a:avLst>
              <a:gd name="adj" fmla="val 50000"/>
            </a:avLst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2A2F3A"/>
                </a:solidFill>
                <a:latin typeface="Consolas"/>
              </a:rPr>
              <a:t>closeIssue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47872" y="5111496"/>
            <a:ext cx="971092" cy="237744"/>
          </a:xfrm>
          <a:prstGeom prst="roundRect">
            <a:avLst>
              <a:gd name="adj" fmla="val 50000"/>
            </a:avLst>
          </a:prstGeom>
          <a:solidFill>
            <a:srgbClr val="F3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 dirty="0" err="1">
                <a:solidFill>
                  <a:srgbClr val="A6503F"/>
                </a:solidFill>
                <a:latin typeface="Consolas"/>
              </a:rPr>
              <a:t>deleteIssue</a:t>
            </a:r>
            <a:endParaRPr sz="850" b="0" dirty="0">
              <a:solidFill>
                <a:srgbClr val="A6503F"/>
              </a:solidFill>
              <a:latin typeface="Consola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181344" y="3337560"/>
            <a:ext cx="2651760" cy="283464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64224" y="350215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dirty="0">
                <a:solidFill>
                  <a:srgbClr val="5B6472"/>
                </a:solidFill>
                <a:latin typeface="Consolas"/>
              </a:rPr>
              <a:t>PRE-EXISTING</a:t>
            </a:r>
            <a:r>
              <a:rPr lang="en-IL" sz="900" b="1" i="0" dirty="0">
                <a:solidFill>
                  <a:srgbClr val="5B6472"/>
                </a:solidFill>
                <a:latin typeface="Consolas"/>
              </a:rPr>
              <a:t> &amp;</a:t>
            </a:r>
            <a:r>
              <a:rPr lang="en-US" sz="900" b="1" i="0" dirty="0">
                <a:solidFill>
                  <a:srgbClr val="5B6472"/>
                </a:solidFill>
                <a:latin typeface="Consolas"/>
              </a:rPr>
              <a:t> UNRELATED</a:t>
            </a:r>
            <a:endParaRPr sz="900" b="1" i="0" dirty="0">
              <a:solidFill>
                <a:srgbClr val="5B6472"/>
              </a:solidFill>
              <a:latin typeface="Consola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64224" y="3813048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F1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C17F2E"/>
                </a:solidFill>
                <a:latin typeface="Arial Narrow"/>
              </a:rPr>
              <a:t>DISTRACTOR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4206240"/>
            <a:ext cx="22860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 dirty="0" err="1">
                <a:solidFill>
                  <a:srgbClr val="FFC000"/>
                </a:solidFill>
                <a:latin typeface="Arial Narrow"/>
              </a:rPr>
              <a:t>WeatherAgent</a:t>
            </a:r>
            <a:endParaRPr sz="1300" b="1" i="0" dirty="0">
              <a:solidFill>
                <a:srgbClr val="FFC000"/>
              </a:solidFill>
              <a:latin typeface="Arial Narrow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64224" y="4572000"/>
            <a:ext cx="22860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 dirty="0" err="1">
                <a:solidFill>
                  <a:schemeClr val="accent2"/>
                </a:solidFill>
                <a:latin typeface="Arial Narrow"/>
              </a:rPr>
              <a:t>WeatherTool</a:t>
            </a:r>
            <a:endParaRPr sz="1300" b="1" i="0" dirty="0">
              <a:solidFill>
                <a:schemeClr val="accent2"/>
              </a:solidFill>
              <a:latin typeface="Arial Narrow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364224" y="4864608"/>
            <a:ext cx="971092" cy="237744"/>
          </a:xfrm>
          <a:prstGeom prst="roundRect">
            <a:avLst>
              <a:gd name="adj" fmla="val 50000"/>
            </a:avLst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 dirty="0" err="1">
                <a:solidFill>
                  <a:srgbClr val="FFC000"/>
                </a:solidFill>
                <a:latin typeface="Consolas"/>
              </a:rPr>
              <a:t>getForecast</a:t>
            </a:r>
            <a:endParaRPr sz="850" b="0" dirty="0">
              <a:solidFill>
                <a:srgbClr val="FFC000"/>
              </a:solidFill>
              <a:latin typeface="Consola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997696" y="3337560"/>
            <a:ext cx="2651760" cy="2834640"/>
          </a:xfrm>
          <a:prstGeom prst="roundRect">
            <a:avLst>
              <a:gd name="adj" fmla="val 6000"/>
            </a:avLst>
          </a:prstGeom>
          <a:solidFill>
            <a:schemeClr val="bg2">
              <a:alpha val="70000"/>
            </a:schemeClr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80576" y="350215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B6472"/>
                </a:solidFill>
                <a:latin typeface="Consolas"/>
              </a:rPr>
              <a:t>ARRIVING NOW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0576" y="3813048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F1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C17F2E"/>
                </a:solidFill>
                <a:latin typeface="Arial Narrow"/>
              </a:rPr>
              <a:t>THE EVENT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42062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4181F"/>
                </a:solidFill>
                <a:latin typeface="Arial Narrow"/>
              </a:rPr>
              <a:t>GitIssueAgent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0576" y="4498848"/>
            <a:ext cx="1345996" cy="237744"/>
          </a:xfrm>
          <a:prstGeom prst="roundRect">
            <a:avLst>
              <a:gd name="adj" fmla="val 50000"/>
            </a:avLst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2A2F3A"/>
                </a:solidFill>
                <a:latin typeface="Consolas"/>
              </a:rPr>
              <a:t>issue operations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6263640"/>
            <a:ext cx="27940" cy="548640"/>
          </a:xfrm>
          <a:prstGeom prst="rect">
            <a:avLst/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6263640"/>
            <a:ext cx="10881360" cy="1802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 dirty="0" err="1">
                <a:solidFill>
                  <a:srgbClr val="A6503F"/>
                </a:solidFill>
                <a:latin typeface="Consolas"/>
              </a:rPr>
              <a:t>deleteIssue</a:t>
            </a:r>
            <a:r>
              <a:rPr sz="1050" b="1" i="0" dirty="0">
                <a:solidFill>
                  <a:srgbClr val="A6503F"/>
                </a:solidFill>
                <a:latin typeface="Consolas"/>
              </a:rPr>
              <a:t>* </a:t>
            </a:r>
            <a:r>
              <a:rPr sz="1100" b="0" i="0" dirty="0">
                <a:solidFill>
                  <a:srgbClr val="5B6472"/>
                </a:solidFill>
                <a:latin typeface="Georgia"/>
              </a:rPr>
              <a:t>is deliberately absent from policy — no role should map to it. </a:t>
            </a:r>
            <a:r>
              <a:rPr lang="en-US" sz="1100" b="0" i="0" dirty="0">
                <a:solidFill>
                  <a:srgbClr val="5B6472"/>
                </a:solidFill>
                <a:latin typeface="Georgia"/>
              </a:rPr>
              <a:t>  </a:t>
            </a:r>
            <a:r>
              <a:rPr sz="1100" b="0" i="0" dirty="0" err="1">
                <a:solidFill>
                  <a:srgbClr val="FFC000"/>
                </a:solidFill>
                <a:latin typeface="Georgia"/>
              </a:rPr>
              <a:t>WeatherAgent</a:t>
            </a:r>
            <a:r>
              <a:rPr sz="1100" b="0" i="0" dirty="0">
                <a:solidFill>
                  <a:srgbClr val="5B6472"/>
                </a:solidFill>
                <a:latin typeface="Georgia"/>
              </a:rPr>
              <a:t>/</a:t>
            </a:r>
            <a:r>
              <a:rPr sz="1100" b="0" i="0" dirty="0" err="1">
                <a:solidFill>
                  <a:srgbClr val="FFC000"/>
                </a:solidFill>
                <a:latin typeface="Georgia"/>
              </a:rPr>
              <a:t>WeatherTool</a:t>
            </a:r>
            <a:r>
              <a:rPr sz="1100" b="0" i="0" dirty="0">
                <a:solidFill>
                  <a:srgbClr val="5B6472"/>
                </a:solidFill>
                <a:latin typeface="Georgia"/>
              </a:rPr>
              <a:t> are deliberately irrelevant to this onboarding.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17320" y="320040"/>
            <a:ext cx="9875520" cy="693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 dirty="0">
                <a:solidFill>
                  <a:srgbClr val="5B6472"/>
                </a:solidFill>
                <a:latin typeface="Arial Narrow"/>
              </a:rPr>
              <a:t>THE METHODOLOGY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 i="0" dirty="0">
                <a:solidFill>
                  <a:srgbClr val="14181F"/>
                </a:solidFill>
                <a:latin typeface="Arial Narrow"/>
              </a:rPr>
              <a:t>Every rule is a </a:t>
            </a:r>
            <a:r>
              <a:rPr lang="en-US" sz="3000" b="1" i="0" dirty="0">
                <a:solidFill>
                  <a:srgbClr val="14181F"/>
                </a:solidFill>
                <a:latin typeface="Arial Narrow"/>
              </a:rPr>
              <a:t>'Who’</a:t>
            </a:r>
            <a:r>
              <a:rPr lang="en-IL" sz="3000" b="1" dirty="0">
                <a:solidFill>
                  <a:srgbClr val="14181F"/>
                </a:solidFill>
                <a:latin typeface="Arial Narrow"/>
              </a:rPr>
              <a:t> and a</a:t>
            </a:r>
            <a:r>
              <a:rPr lang="en-IL" sz="3000" b="1" i="0" dirty="0">
                <a:solidFill>
                  <a:srgbClr val="14181F"/>
                </a:solidFill>
                <a:latin typeface="Arial Narrow"/>
              </a:rPr>
              <a:t> ‘</a:t>
            </a:r>
            <a:r>
              <a:rPr lang="en-US" sz="3000" b="1" i="0" dirty="0">
                <a:solidFill>
                  <a:srgbClr val="14181F"/>
                </a:solidFill>
                <a:latin typeface="Arial Narrow"/>
              </a:rPr>
              <a:t>What’</a:t>
            </a:r>
            <a:endParaRPr sz="3000" b="1" i="0" dirty="0">
              <a:solidFill>
                <a:srgbClr val="14181F"/>
              </a:solidFill>
              <a:latin typeface="Arial Narrow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6916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 i="0" dirty="0">
                <a:solidFill>
                  <a:srgbClr val="2A2F3A"/>
                </a:solidFill>
                <a:latin typeface="Georgia"/>
              </a:rPr>
              <a:t>Underneath the natural language, every access decision reduces to the sam</a:t>
            </a:r>
            <a:r>
              <a:rPr lang="en-US" sz="1450" b="0" i="0" dirty="0">
                <a:solidFill>
                  <a:srgbClr val="2A2F3A"/>
                </a:solidFill>
                <a:latin typeface="Georgia"/>
              </a:rPr>
              <a:t>e</a:t>
            </a:r>
            <a:r>
              <a:rPr lang="en-IL" sz="1450" b="0" i="0" dirty="0">
                <a:solidFill>
                  <a:srgbClr val="2A2F3A"/>
                </a:solidFill>
                <a:latin typeface="Georgia"/>
              </a:rPr>
              <a:t> </a:t>
            </a:r>
            <a:r>
              <a:rPr lang="en-US" sz="1450" b="0" i="0" dirty="0">
                <a:solidFill>
                  <a:srgbClr val="2A2F3A"/>
                </a:solidFill>
                <a:latin typeface="Georgia"/>
              </a:rPr>
              <a:t>two-part shape</a:t>
            </a:r>
            <a:r>
              <a:rPr sz="1450" b="0" i="0" dirty="0">
                <a:solidFill>
                  <a:srgbClr val="2A2F3A"/>
                </a:solidFill>
                <a:latin typeface="Georgia"/>
              </a:rPr>
              <a:t>. AIAC's job is </a:t>
            </a:r>
            <a:r>
              <a:rPr lang="en-US" sz="1450" dirty="0">
                <a:solidFill>
                  <a:srgbClr val="2A2F3A"/>
                </a:solidFill>
                <a:latin typeface="Georgia"/>
              </a:rPr>
              <a:t>creating</a:t>
            </a:r>
            <a:r>
              <a:rPr sz="1450" b="0" i="0" dirty="0">
                <a:solidFill>
                  <a:srgbClr val="2A2F3A"/>
                </a:solidFill>
                <a:latin typeface="Georgia"/>
              </a:rPr>
              <a:t> </a:t>
            </a:r>
            <a:r>
              <a:rPr lang="en-US" sz="1450" b="0" i="0" dirty="0">
                <a:solidFill>
                  <a:srgbClr val="2A2F3A"/>
                </a:solidFill>
                <a:latin typeface="Georgia"/>
              </a:rPr>
              <a:t>such</a:t>
            </a:r>
            <a:r>
              <a:rPr sz="1450" b="0" i="0" dirty="0">
                <a:solidFill>
                  <a:srgbClr val="2A2F3A"/>
                </a:solidFill>
                <a:latin typeface="Georgia"/>
              </a:rPr>
              <a:t> </a:t>
            </a:r>
            <a:r>
              <a:rPr lang="en-US" sz="1450" dirty="0">
                <a:solidFill>
                  <a:srgbClr val="2A2F3A"/>
                </a:solidFill>
                <a:latin typeface="Georgia"/>
              </a:rPr>
              <a:t>couples</a:t>
            </a:r>
            <a:r>
              <a:rPr sz="1450" b="0" i="0" dirty="0">
                <a:solidFill>
                  <a:srgbClr val="2A2F3A"/>
                </a:solidFill>
                <a:latin typeface="Georgia"/>
              </a:rPr>
              <a:t> correctly, for every entity, every time something changes.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96312"/>
            <a:ext cx="4507992" cy="1874519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2505456"/>
            <a:ext cx="4288536" cy="16650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2400" b="1" i="0" dirty="0">
                <a:solidFill>
                  <a:srgbClr val="C17F2E"/>
                </a:solidFill>
                <a:latin typeface="Arial Narrow"/>
              </a:rPr>
              <a:t>Who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500" b="1" i="0" dirty="0">
                <a:solidFill>
                  <a:srgbClr val="14181F"/>
                </a:solidFill>
                <a:latin typeface="Arial Narrow"/>
              </a:rPr>
              <a:t>Role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00" b="0" i="0" dirty="0">
                <a:solidFill>
                  <a:srgbClr val="5B6472"/>
                </a:solidFill>
                <a:latin typeface="Consolas"/>
              </a:rPr>
              <a:t>a human role or an agent's own identity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00" b="0" i="0" dirty="0">
                <a:solidFill>
                  <a:srgbClr val="5B6472"/>
                </a:solidFill>
                <a:latin typeface="Georgia"/>
              </a:rPr>
              <a:t>The caller. Who is asking to reach something else in the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0096" y="2505456"/>
            <a:ext cx="4727448" cy="1883663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40680" y="2513004"/>
            <a:ext cx="4343400" cy="16650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2400" b="1" i="0" dirty="0">
                <a:solidFill>
                  <a:srgbClr val="C17F2E"/>
                </a:solidFill>
                <a:latin typeface="Arial Narrow"/>
              </a:rPr>
              <a:t>What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500" b="1" i="0" dirty="0">
                <a:solidFill>
                  <a:srgbClr val="14181F"/>
                </a:solidFill>
                <a:latin typeface="Arial Narrow"/>
              </a:rPr>
              <a:t>Scope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00" b="0" i="0" dirty="0">
                <a:solidFill>
                  <a:srgbClr val="5B6472"/>
                </a:solidFill>
                <a:latin typeface="Consolas"/>
              </a:rPr>
              <a:t>a single permitted operation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00" b="0" i="0" dirty="0">
                <a:solidFill>
                  <a:srgbClr val="5B6472"/>
                </a:solidFill>
                <a:latin typeface="Georgia"/>
              </a:rPr>
              <a:t>The specific capability being granted — one tool operation, one agent skill.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2A2F3A"/>
                </a:solidFill>
                <a:latin typeface="Georgia"/>
              </a:rPr>
              <a:t>AIAC keeps two views of the same underlying rule set: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29199"/>
            <a:ext cx="5349240" cy="1278883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5166360"/>
            <a:ext cx="4892040" cy="11417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600" b="1" i="0" dirty="0">
                <a:solidFill>
                  <a:srgbClr val="C17F2E"/>
                </a:solidFill>
                <a:latin typeface="Consolas"/>
              </a:rPr>
              <a:t>Service Policy Model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400" b="0" i="0" dirty="0">
                <a:solidFill>
                  <a:srgbClr val="5B6472"/>
                </a:solidFill>
                <a:latin typeface="Georgia"/>
              </a:rPr>
              <a:t>Per service: which roles may reach each of this service's scopes. The view a tool owner would ask for — "who can call me, and for what."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5029199"/>
            <a:ext cx="5349240" cy="1344159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5166360"/>
            <a:ext cx="4892040" cy="11417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600" b="1" i="0" dirty="0">
                <a:solidFill>
                  <a:srgbClr val="C17F2E"/>
                </a:solidFill>
                <a:latin typeface="Consolas"/>
              </a:rPr>
              <a:t>Agent Policy Model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400" b="0" i="0" dirty="0">
                <a:solidFill>
                  <a:srgbClr val="5B6472"/>
                </a:solidFill>
                <a:latin typeface="Georgia"/>
              </a:rPr>
              <a:t>Per agent: everything that agent's own role is entitled to reach elsewhere. The view an agent owner would ask for — "what can I actually do."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34440" y="2743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5B6472"/>
                </a:solidFill>
                <a:latin typeface="Arial Narrow"/>
              </a:rPr>
              <a:t>THE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3134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17F2E"/>
                </a:solidFill>
                <a:latin typeface="Consolas"/>
              </a:rPr>
              <a:t>STEP 01 / 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987552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5B6472"/>
                </a:solidFill>
                <a:latin typeface="Arial Narrow"/>
              </a:rPr>
              <a:t>TRIGGER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3177540"/>
            <a:ext cx="182880" cy="0"/>
          </a:xfrm>
          <a:prstGeom prst="line">
            <a:avLst/>
          </a:prstGeom>
          <a:ln w="25400">
            <a:solidFill>
              <a:srgbClr val="C17F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0" y="3177540"/>
            <a:ext cx="96012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5432957" y="1874520"/>
            <a:ext cx="250842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499036" y="1874520"/>
            <a:ext cx="536283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812280" y="3048218"/>
            <a:ext cx="640080" cy="54864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812280" y="3101712"/>
            <a:ext cx="3017520" cy="58878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8640" y="274320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888582"/>
            <a:ext cx="1380744" cy="5779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1250" b="1" i="0" dirty="0">
                <a:solidFill>
                  <a:srgbClr val="14181F"/>
                </a:solidFill>
                <a:latin typeface="Arial Narrow"/>
              </a:rPr>
              <a:t>IdP (</a:t>
            </a:r>
            <a:r>
              <a:rPr sz="1250" b="1" i="0" dirty="0" err="1">
                <a:solidFill>
                  <a:srgbClr val="14181F"/>
                </a:solidFill>
                <a:latin typeface="Arial Narrow"/>
              </a:rPr>
              <a:t>Keycloak</a:t>
            </a:r>
            <a:r>
              <a:rPr lang="en-US" sz="1250" b="1" i="0" dirty="0">
                <a:solidFill>
                  <a:srgbClr val="14181F"/>
                </a:solidFill>
                <a:latin typeface="Arial Narrow"/>
              </a:rPr>
              <a:t>)</a:t>
            </a:r>
            <a:endParaRPr sz="1250" b="1" i="0" dirty="0">
              <a:solidFill>
                <a:srgbClr val="14181F"/>
              </a:solidFill>
              <a:latin typeface="Arial Narrow"/>
            </a:endParaRP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b="0" i="0" dirty="0">
                <a:solidFill>
                  <a:srgbClr val="C17F2E"/>
                </a:solidFill>
                <a:latin typeface="Georgia"/>
              </a:rPr>
              <a:t>I</a:t>
            </a:r>
            <a:r>
              <a:rPr sz="900" b="0" i="0" dirty="0">
                <a:solidFill>
                  <a:srgbClr val="C17F2E"/>
                </a:solidFill>
                <a:latin typeface="Georgia"/>
              </a:rPr>
              <a:t>dentity</a:t>
            </a:r>
            <a:endParaRPr lang="en-US" sz="900" b="0" i="0" dirty="0">
              <a:solidFill>
                <a:srgbClr val="C17F2E"/>
              </a:solidFill>
              <a:latin typeface="Georgia"/>
            </a:endParaRP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b="0" i="0" dirty="0">
                <a:solidFill>
                  <a:srgbClr val="C17F2E"/>
                </a:solidFill>
                <a:latin typeface="Georgia"/>
              </a:rPr>
              <a:t>roles, scopes, catalog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31720" y="274320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41448" y="283464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4181F"/>
                </a:solidFill>
                <a:latin typeface="Arial Narrow"/>
              </a:rPr>
              <a:t>Event Broker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17F2E"/>
                </a:solidFill>
                <a:latin typeface="Georgia"/>
              </a:rPr>
              <a:t>durable delivery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2514600"/>
            <a:ext cx="1737360" cy="13258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84648" y="2606040"/>
            <a:ext cx="1517904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AIAC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reconciliation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097280"/>
            <a:ext cx="1874519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53128" y="1188720"/>
            <a:ext cx="1655063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Agent card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GitIssueAgent's own skills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097280"/>
            <a:ext cx="1920240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1188720"/>
            <a:ext cx="170078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IssueHandler / AdminIssues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tools report own ops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25146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2606040"/>
            <a:ext cx="1563624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Policy text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knowledge base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265176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39528" y="2743200"/>
            <a:ext cx="138074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OPA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live rules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74920"/>
            <a:ext cx="11183112" cy="141732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5074920"/>
            <a:ext cx="38100" cy="1417320"/>
          </a:xfrm>
          <a:prstGeom prst="rect">
            <a:avLst/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239512"/>
            <a:ext cx="10451592" cy="990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 i="0" dirty="0">
                <a:solidFill>
                  <a:srgbClr val="14181F"/>
                </a:solidFill>
                <a:latin typeface="Arial Narrow"/>
              </a:rPr>
              <a:t>A new </a:t>
            </a:r>
            <a:r>
              <a:rPr lang="en-US" sz="1700" b="1" i="0" dirty="0">
                <a:solidFill>
                  <a:srgbClr val="14181F"/>
                </a:solidFill>
                <a:latin typeface="Arial Narrow"/>
              </a:rPr>
              <a:t>IdP</a:t>
            </a:r>
            <a:r>
              <a:rPr sz="1700" b="1" i="0" dirty="0">
                <a:solidFill>
                  <a:srgbClr val="14181F"/>
                </a:solidFill>
                <a:latin typeface="Arial Narrow"/>
              </a:rPr>
              <a:t> client appears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 dirty="0">
                <a:solidFill>
                  <a:srgbClr val="5B6472"/>
                </a:solidFill>
                <a:latin typeface="Georgia"/>
              </a:rPr>
              <a:t>A client is registered for </a:t>
            </a:r>
            <a:r>
              <a:rPr sz="1600" b="0" i="0" dirty="0" err="1">
                <a:solidFill>
                  <a:srgbClr val="5B6472"/>
                </a:solidFill>
                <a:latin typeface="Georgia"/>
              </a:rPr>
              <a:t>GitIssueAgent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. The identity listener publishes a scoped event; the event broker delivers it to AIAC exactly once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5895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1498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27101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527048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78308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03911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229514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55117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3EAA1013-34B7-6C84-9FA7-26648E6CD319}"/>
              </a:ext>
            </a:extLst>
          </p:cNvPr>
          <p:cNvCxnSpPr>
            <a:cxnSpLocks/>
          </p:cNvCxnSpPr>
          <p:nvPr/>
        </p:nvCxnSpPr>
        <p:spPr>
          <a:xfrm rot="5400000" flipH="1">
            <a:off x="3531870" y="1428750"/>
            <a:ext cx="228600" cy="4594860"/>
          </a:xfrm>
          <a:prstGeom prst="bentConnector3">
            <a:avLst>
              <a:gd name="adj1" fmla="val -215315"/>
            </a:avLst>
          </a:prstGeom>
          <a:ln w="11430">
            <a:solidFill>
              <a:srgbClr val="B7B2A6"/>
            </a:solidFill>
            <a:headEnd type="stealt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34440" y="2743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5B6472"/>
                </a:solidFill>
                <a:latin typeface="Arial Narrow"/>
              </a:rPr>
              <a:t>THE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3134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17F2E"/>
                </a:solidFill>
                <a:latin typeface="Consolas"/>
              </a:rPr>
              <a:t>STEP 02 / 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987552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F1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C17F2E"/>
                </a:solidFill>
                <a:latin typeface="Arial Narrow"/>
              </a:rPr>
              <a:t>PHASE 1 — SELF-DESCRIPTION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3177540"/>
            <a:ext cx="18288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0" y="3177540"/>
            <a:ext cx="960120" cy="0"/>
          </a:xfrm>
          <a:prstGeom prst="line">
            <a:avLst/>
          </a:prstGeom>
          <a:ln w="25400">
            <a:solidFill>
              <a:srgbClr val="C17F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5432957" y="1874520"/>
            <a:ext cx="250842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499036" y="1874520"/>
            <a:ext cx="536283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812280" y="3048218"/>
            <a:ext cx="640080" cy="54864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812280" y="3101712"/>
            <a:ext cx="3017520" cy="58878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8640" y="274320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888582"/>
            <a:ext cx="1380744" cy="5779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1250" b="1" dirty="0">
                <a:solidFill>
                  <a:srgbClr val="B7B2A6"/>
                </a:solidFill>
                <a:latin typeface="Arial Narrow"/>
              </a:rPr>
              <a:t>IdP (</a:t>
            </a:r>
            <a:r>
              <a:rPr lang="en-US" sz="1250" b="1" dirty="0" err="1">
                <a:solidFill>
                  <a:srgbClr val="B7B2A6"/>
                </a:solidFill>
                <a:latin typeface="Arial Narrow"/>
              </a:rPr>
              <a:t>Keycloak</a:t>
            </a:r>
            <a:r>
              <a:rPr lang="en-US" sz="1250" b="1" dirty="0">
                <a:solidFill>
                  <a:srgbClr val="B7B2A6"/>
                </a:solidFill>
                <a:latin typeface="Arial Narrow"/>
              </a:rPr>
              <a:t>)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b="0" i="0" dirty="0">
                <a:solidFill>
                  <a:srgbClr val="B7B2A6"/>
                </a:solidFill>
                <a:latin typeface="Georgia"/>
              </a:rPr>
              <a:t>I</a:t>
            </a:r>
            <a:r>
              <a:rPr sz="900" b="0" i="0" dirty="0">
                <a:solidFill>
                  <a:srgbClr val="B7B2A6"/>
                </a:solidFill>
                <a:latin typeface="Georgia"/>
              </a:rPr>
              <a:t>dentity</a:t>
            </a:r>
            <a:endParaRPr lang="en-US" sz="900" b="0" i="0" dirty="0">
              <a:solidFill>
                <a:srgbClr val="B7B2A6"/>
              </a:solidFill>
              <a:latin typeface="Georgia"/>
            </a:endParaRP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dirty="0">
                <a:solidFill>
                  <a:srgbClr val="B7B2A6"/>
                </a:solidFill>
                <a:latin typeface="Georgia"/>
              </a:rPr>
              <a:t>roles, scopes, catalog</a:t>
            </a:r>
            <a:endParaRPr lang="en-US" sz="900" dirty="0">
              <a:solidFill>
                <a:srgbClr val="C17F2E"/>
              </a:solidFill>
              <a:latin typeface="Georgia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331720" y="274320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41448" y="283464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4181F"/>
                </a:solidFill>
                <a:latin typeface="Arial Narrow"/>
              </a:rPr>
              <a:t>Event Broker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17F2E"/>
                </a:solidFill>
                <a:latin typeface="Georgia"/>
              </a:rPr>
              <a:t>durable delivery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2514600"/>
            <a:ext cx="1737360" cy="132588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84648" y="2606040"/>
            <a:ext cx="1517904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4181F"/>
                </a:solidFill>
                <a:latin typeface="Arial Narrow"/>
              </a:rPr>
              <a:t>AIAC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17F2E"/>
                </a:solidFill>
                <a:latin typeface="Georgia"/>
              </a:rPr>
              <a:t>reconciliation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097280"/>
            <a:ext cx="1874519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53128" y="1188720"/>
            <a:ext cx="1655063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Agent card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GitIssueAgent's own skills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097280"/>
            <a:ext cx="1920240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1188720"/>
            <a:ext cx="170078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IssueHandler / AdminIssues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tools report own ops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25146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2606040"/>
            <a:ext cx="1563624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 dirty="0">
                <a:solidFill>
                  <a:srgbClr val="B7B2A6"/>
                </a:solidFill>
                <a:latin typeface="Arial Narrow"/>
              </a:rPr>
              <a:t>Policy text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 dirty="0">
                <a:solidFill>
                  <a:srgbClr val="B7B2A6"/>
                </a:solidFill>
                <a:latin typeface="Georgia"/>
              </a:rPr>
              <a:t>knowledge base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265176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39528" y="2743200"/>
            <a:ext cx="138074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OPA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live rules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74920"/>
            <a:ext cx="11183112" cy="141732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5074920"/>
            <a:ext cx="38100" cy="1417320"/>
          </a:xfrm>
          <a:prstGeom prst="rect">
            <a:avLst/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239512"/>
            <a:ext cx="10515600" cy="990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 i="0" dirty="0">
                <a:solidFill>
                  <a:srgbClr val="14181F"/>
                </a:solidFill>
                <a:latin typeface="Arial Narrow"/>
              </a:rPr>
              <a:t>Is this an agent or a tool?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 dirty="0">
                <a:solidFill>
                  <a:srgbClr val="5B6472"/>
                </a:solidFill>
                <a:latin typeface="Georgia"/>
              </a:rPr>
              <a:t>AIAC checks the workload's own deployment metadata — not a guess, not an LLM call. </a:t>
            </a:r>
            <a:r>
              <a:rPr sz="1600" b="0" i="0" dirty="0" err="1">
                <a:solidFill>
                  <a:srgbClr val="5B6472"/>
                </a:solidFill>
                <a:latin typeface="Georgia"/>
              </a:rPr>
              <a:t>GitIssueAgent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 resolves as an agent.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5895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1498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27101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527048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78308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03911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229514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55117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79749AD-1222-4AB4-AB4E-6B8576E47CFB}"/>
              </a:ext>
            </a:extLst>
          </p:cNvPr>
          <p:cNvCxnSpPr>
            <a:cxnSpLocks/>
          </p:cNvCxnSpPr>
          <p:nvPr/>
        </p:nvCxnSpPr>
        <p:spPr>
          <a:xfrm rot="5400000" flipH="1">
            <a:off x="3531870" y="1428750"/>
            <a:ext cx="228600" cy="4594860"/>
          </a:xfrm>
          <a:prstGeom prst="bentConnector3">
            <a:avLst>
              <a:gd name="adj1" fmla="val -215315"/>
            </a:avLst>
          </a:prstGeom>
          <a:ln w="11430">
            <a:solidFill>
              <a:srgbClr val="B7B2A6"/>
            </a:solidFill>
            <a:headEnd type="stealt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34440" y="2743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5B6472"/>
                </a:solidFill>
                <a:latin typeface="Arial Narrow"/>
              </a:rPr>
              <a:t>THE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3134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17F2E"/>
                </a:solidFill>
                <a:latin typeface="Consolas"/>
              </a:rPr>
              <a:t>STEP 03 / 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987552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F1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C17F2E"/>
                </a:solidFill>
                <a:latin typeface="Arial Narrow"/>
              </a:rPr>
              <a:t>PHASE 1 — SELF-DESCRIPTION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3177540"/>
            <a:ext cx="18288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0" y="3177540"/>
            <a:ext cx="96012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5432957" y="1874520"/>
            <a:ext cx="250842" cy="640080"/>
          </a:xfrm>
          <a:prstGeom prst="line">
            <a:avLst/>
          </a:prstGeom>
          <a:ln w="25400">
            <a:solidFill>
              <a:srgbClr val="C17F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499036" y="1874520"/>
            <a:ext cx="536283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812280" y="3048218"/>
            <a:ext cx="640080" cy="54864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812280" y="3101712"/>
            <a:ext cx="3017520" cy="58878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8640" y="274320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331720" y="274320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41448" y="283464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Event Broker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durable delivery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2514600"/>
            <a:ext cx="1737360" cy="132588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84648" y="2606040"/>
            <a:ext cx="1517904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4181F"/>
                </a:solidFill>
                <a:latin typeface="Arial Narrow"/>
              </a:rPr>
              <a:t>AIAC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17F2E"/>
                </a:solidFill>
                <a:latin typeface="Georgia"/>
              </a:rPr>
              <a:t>reconciliation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097280"/>
            <a:ext cx="1874519" cy="77724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53128" y="1188720"/>
            <a:ext cx="1655063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4181F"/>
                </a:solidFill>
                <a:latin typeface="Arial Narrow"/>
              </a:rPr>
              <a:t>Agent card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17F2E"/>
                </a:solidFill>
                <a:latin typeface="Georgia"/>
              </a:rPr>
              <a:t>GitIssueAgent's own skills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097280"/>
            <a:ext cx="1920240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1188720"/>
            <a:ext cx="170078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IssueHandler / AdminIssues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tools report own ops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25146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2606040"/>
            <a:ext cx="1563624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Policy text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knowledge base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265176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39528" y="2743200"/>
            <a:ext cx="138074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OPA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live rules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74920"/>
            <a:ext cx="11183112" cy="141732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5074920"/>
            <a:ext cx="38100" cy="1417320"/>
          </a:xfrm>
          <a:prstGeom prst="rect">
            <a:avLst/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239512"/>
            <a:ext cx="10515600" cy="990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 i="0" dirty="0">
                <a:solidFill>
                  <a:srgbClr val="14181F"/>
                </a:solidFill>
                <a:latin typeface="Arial Narrow"/>
              </a:rPr>
              <a:t>What are this agent's own skills?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 dirty="0">
                <a:solidFill>
                  <a:srgbClr val="5B6472"/>
                </a:solidFill>
                <a:latin typeface="Georgia"/>
              </a:rPr>
              <a:t>AIAC reads </a:t>
            </a:r>
            <a:r>
              <a:rPr sz="1600" b="0" i="0" dirty="0" err="1">
                <a:solidFill>
                  <a:srgbClr val="5B6472"/>
                </a:solidFill>
                <a:latin typeface="Georgia"/>
              </a:rPr>
              <a:t>GitIssueAgent's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 own self-declared capability card. One role is derived for the agent itself, and one scope per declared skill — here, issue operations.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5895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1498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27101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527048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78308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03911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229514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55117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2F037D-60B0-7118-1DEB-27E16D59ED65}"/>
              </a:ext>
            </a:extLst>
          </p:cNvPr>
          <p:cNvSpPr txBox="1"/>
          <p:nvPr/>
        </p:nvSpPr>
        <p:spPr>
          <a:xfrm>
            <a:off x="658368" y="2888582"/>
            <a:ext cx="1380744" cy="5779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1250" b="1" dirty="0">
                <a:solidFill>
                  <a:srgbClr val="B7B2A6"/>
                </a:solidFill>
                <a:latin typeface="Arial Narrow"/>
              </a:rPr>
              <a:t>IdP (</a:t>
            </a:r>
            <a:r>
              <a:rPr lang="en-US" sz="1250" b="1" dirty="0" err="1">
                <a:solidFill>
                  <a:srgbClr val="B7B2A6"/>
                </a:solidFill>
                <a:latin typeface="Arial Narrow"/>
              </a:rPr>
              <a:t>Keycloak</a:t>
            </a:r>
            <a:r>
              <a:rPr lang="en-US" sz="1250" b="1" dirty="0">
                <a:solidFill>
                  <a:srgbClr val="B7B2A6"/>
                </a:solidFill>
                <a:latin typeface="Arial Narrow"/>
              </a:rPr>
              <a:t>)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b="0" i="0" dirty="0">
                <a:solidFill>
                  <a:srgbClr val="B7B2A6"/>
                </a:solidFill>
                <a:latin typeface="Georgia"/>
              </a:rPr>
              <a:t>I</a:t>
            </a:r>
            <a:r>
              <a:rPr sz="900" b="0" i="0" dirty="0">
                <a:solidFill>
                  <a:srgbClr val="B7B2A6"/>
                </a:solidFill>
                <a:latin typeface="Georgia"/>
              </a:rPr>
              <a:t>dentity</a:t>
            </a:r>
            <a:endParaRPr lang="en-US" sz="900" b="0" i="0" dirty="0">
              <a:solidFill>
                <a:srgbClr val="B7B2A6"/>
              </a:solidFill>
              <a:latin typeface="Georgia"/>
            </a:endParaRP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dirty="0">
                <a:solidFill>
                  <a:srgbClr val="B7B2A6"/>
                </a:solidFill>
                <a:latin typeface="Georgia"/>
              </a:rPr>
              <a:t>roles, scopes, catalog</a:t>
            </a:r>
            <a:endParaRPr lang="en-US" sz="900" dirty="0">
              <a:solidFill>
                <a:srgbClr val="C17F2E"/>
              </a:solidFill>
              <a:latin typeface="Georgia"/>
            </a:endParaRPr>
          </a:p>
        </p:txBody>
      </p: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41CCAFAD-F99C-EBD5-9FDD-36549AB18616}"/>
              </a:ext>
            </a:extLst>
          </p:cNvPr>
          <p:cNvCxnSpPr>
            <a:cxnSpLocks/>
          </p:cNvCxnSpPr>
          <p:nvPr/>
        </p:nvCxnSpPr>
        <p:spPr>
          <a:xfrm rot="5400000" flipH="1">
            <a:off x="3531870" y="1428750"/>
            <a:ext cx="228600" cy="4594860"/>
          </a:xfrm>
          <a:prstGeom prst="bentConnector3">
            <a:avLst>
              <a:gd name="adj1" fmla="val -215315"/>
            </a:avLst>
          </a:prstGeom>
          <a:ln w="11430">
            <a:solidFill>
              <a:srgbClr val="B7B2A6"/>
            </a:solidFill>
            <a:headEnd type="stealt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34440" y="2743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5B6472"/>
                </a:solidFill>
                <a:latin typeface="Arial Narrow"/>
              </a:rPr>
              <a:t>THE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3134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17F2E"/>
                </a:solidFill>
                <a:latin typeface="Consolas"/>
              </a:rPr>
              <a:t>STEP 04 / 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987552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F1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C17F2E"/>
                </a:solidFill>
                <a:latin typeface="Arial Narrow"/>
              </a:rPr>
              <a:t>PHASE 1 — SELF-DESCRIPTION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3177540"/>
            <a:ext cx="18288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0" y="3177540"/>
            <a:ext cx="96012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5432957" y="1874520"/>
            <a:ext cx="250842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499036" y="1874520"/>
            <a:ext cx="536283" cy="640080"/>
          </a:xfrm>
          <a:prstGeom prst="line">
            <a:avLst/>
          </a:prstGeom>
          <a:ln w="25400">
            <a:solidFill>
              <a:srgbClr val="C17F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812280" y="3048218"/>
            <a:ext cx="640080" cy="54864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812280" y="3101712"/>
            <a:ext cx="3017520" cy="58878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8640" y="274320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331720" y="274320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41448" y="283464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Event Broker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durable delivery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2514600"/>
            <a:ext cx="1737360" cy="132588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84648" y="2606040"/>
            <a:ext cx="1517904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4181F"/>
                </a:solidFill>
                <a:latin typeface="Arial Narrow"/>
              </a:rPr>
              <a:t>AIAC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17F2E"/>
                </a:solidFill>
                <a:latin typeface="Georgia"/>
              </a:rPr>
              <a:t>reconciliation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097280"/>
            <a:ext cx="1874519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53128" y="1188720"/>
            <a:ext cx="1655063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 dirty="0">
                <a:solidFill>
                  <a:srgbClr val="B7B2A6"/>
                </a:solidFill>
                <a:latin typeface="Arial Narrow"/>
              </a:rPr>
              <a:t>Agent card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 dirty="0" err="1">
                <a:solidFill>
                  <a:srgbClr val="B7B2A6"/>
                </a:solidFill>
                <a:latin typeface="Georgia"/>
              </a:rPr>
              <a:t>GitIssueAgent's</a:t>
            </a:r>
            <a:r>
              <a:rPr sz="900" b="0" i="0" dirty="0">
                <a:solidFill>
                  <a:srgbClr val="B7B2A6"/>
                </a:solidFill>
                <a:latin typeface="Georgia"/>
              </a:rPr>
              <a:t> own skills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097280"/>
            <a:ext cx="1920240" cy="77724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1188720"/>
            <a:ext cx="170078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 dirty="0" err="1">
                <a:solidFill>
                  <a:srgbClr val="14181F"/>
                </a:solidFill>
                <a:latin typeface="Arial Narrow"/>
              </a:rPr>
              <a:t>IssueHandler</a:t>
            </a:r>
            <a:r>
              <a:rPr sz="1250" b="1" i="0" dirty="0">
                <a:solidFill>
                  <a:srgbClr val="14181F"/>
                </a:solidFill>
                <a:latin typeface="Arial Narrow"/>
              </a:rPr>
              <a:t> / </a:t>
            </a:r>
            <a:r>
              <a:rPr sz="1250" b="1" i="0" dirty="0" err="1">
                <a:solidFill>
                  <a:srgbClr val="14181F"/>
                </a:solidFill>
                <a:latin typeface="Arial Narrow"/>
              </a:rPr>
              <a:t>AdminIssues</a:t>
            </a:r>
            <a:endParaRPr sz="1250" b="1" i="0" dirty="0">
              <a:solidFill>
                <a:srgbClr val="14181F"/>
              </a:solidFill>
              <a:latin typeface="Arial Narrow"/>
            </a:endParaRP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 dirty="0">
                <a:solidFill>
                  <a:srgbClr val="C17F2E"/>
                </a:solidFill>
                <a:latin typeface="Georgia"/>
              </a:rPr>
              <a:t>tools report own ops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25146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2606040"/>
            <a:ext cx="1563624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Policy text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knowledge base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265176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39528" y="2743200"/>
            <a:ext cx="138074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OPA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live rules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74920"/>
            <a:ext cx="11183112" cy="141732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5074920"/>
            <a:ext cx="38100" cy="1417320"/>
          </a:xfrm>
          <a:prstGeom prst="rect">
            <a:avLst/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239512"/>
            <a:ext cx="10515600" cy="990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 i="0" dirty="0">
                <a:solidFill>
                  <a:srgbClr val="14181F"/>
                </a:solidFill>
                <a:latin typeface="Arial Narrow"/>
              </a:rPr>
              <a:t>What does each existing tool expose?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 dirty="0" err="1">
                <a:solidFill>
                  <a:srgbClr val="5B6472"/>
                </a:solidFill>
                <a:latin typeface="Georgia"/>
              </a:rPr>
              <a:t>IssueHandler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 and </a:t>
            </a:r>
            <a:r>
              <a:rPr sz="1600" b="0" i="0" dirty="0" err="1">
                <a:solidFill>
                  <a:srgbClr val="5B6472"/>
                </a:solidFill>
                <a:latin typeface="Georgia"/>
              </a:rPr>
              <a:t>AdminIssues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 were onboarded earlier through this same question: each tool is asked directly for its own operation list — </a:t>
            </a:r>
            <a:r>
              <a:rPr sz="1600" b="0" i="0" dirty="0" err="1">
                <a:solidFill>
                  <a:srgbClr val="5B6472"/>
                </a:solidFill>
                <a:latin typeface="Georgia"/>
              </a:rPr>
              <a:t>readIssue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, </a:t>
            </a:r>
            <a:r>
              <a:rPr sz="1600" b="0" i="0" dirty="0" err="1">
                <a:solidFill>
                  <a:srgbClr val="5B6472"/>
                </a:solidFill>
                <a:latin typeface="Georgia"/>
              </a:rPr>
              <a:t>updateIssue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, </a:t>
            </a:r>
            <a:r>
              <a:rPr sz="1600" b="0" i="0" dirty="0" err="1">
                <a:solidFill>
                  <a:srgbClr val="5B6472"/>
                </a:solidFill>
                <a:latin typeface="Georgia"/>
              </a:rPr>
              <a:t>openIssue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, </a:t>
            </a:r>
            <a:r>
              <a:rPr sz="1600" b="0" i="0" dirty="0" err="1">
                <a:solidFill>
                  <a:srgbClr val="5B6472"/>
                </a:solidFill>
                <a:latin typeface="Georgia"/>
              </a:rPr>
              <a:t>closeIssue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, </a:t>
            </a:r>
            <a:r>
              <a:rPr sz="1600" b="0" i="0" dirty="0" err="1">
                <a:solidFill>
                  <a:srgbClr val="5B6472"/>
                </a:solidFill>
                <a:latin typeface="Georgia"/>
              </a:rPr>
              <a:t>deleteIssue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5895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1498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27101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527048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78308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03911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229514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55117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82D1E4-E6C6-343D-9F13-79F83958007A}"/>
              </a:ext>
            </a:extLst>
          </p:cNvPr>
          <p:cNvSpPr txBox="1"/>
          <p:nvPr/>
        </p:nvSpPr>
        <p:spPr>
          <a:xfrm>
            <a:off x="658368" y="2888582"/>
            <a:ext cx="1380744" cy="5779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1250" b="1" dirty="0">
                <a:solidFill>
                  <a:srgbClr val="B7B2A6"/>
                </a:solidFill>
                <a:latin typeface="Arial Narrow"/>
              </a:rPr>
              <a:t>IdP (</a:t>
            </a:r>
            <a:r>
              <a:rPr lang="en-US" sz="1250" b="1" dirty="0" err="1">
                <a:solidFill>
                  <a:srgbClr val="B7B2A6"/>
                </a:solidFill>
                <a:latin typeface="Arial Narrow"/>
              </a:rPr>
              <a:t>Keycloak</a:t>
            </a:r>
            <a:r>
              <a:rPr lang="en-US" sz="1250" b="1" dirty="0">
                <a:solidFill>
                  <a:srgbClr val="B7B2A6"/>
                </a:solidFill>
                <a:latin typeface="Arial Narrow"/>
              </a:rPr>
              <a:t>)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b="0" i="0" dirty="0">
                <a:solidFill>
                  <a:srgbClr val="B7B2A6"/>
                </a:solidFill>
                <a:latin typeface="Georgia"/>
              </a:rPr>
              <a:t>I</a:t>
            </a:r>
            <a:r>
              <a:rPr sz="900" b="0" i="0" dirty="0">
                <a:solidFill>
                  <a:srgbClr val="B7B2A6"/>
                </a:solidFill>
                <a:latin typeface="Georgia"/>
              </a:rPr>
              <a:t>dentity</a:t>
            </a:r>
            <a:endParaRPr lang="en-US" sz="900" b="0" i="0" dirty="0">
              <a:solidFill>
                <a:srgbClr val="B7B2A6"/>
              </a:solidFill>
              <a:latin typeface="Georgia"/>
            </a:endParaRP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dirty="0">
                <a:solidFill>
                  <a:srgbClr val="B7B2A6"/>
                </a:solidFill>
                <a:latin typeface="Georgia"/>
              </a:rPr>
              <a:t>roles, scopes, catalog</a:t>
            </a:r>
            <a:endParaRPr lang="en-US" sz="900" dirty="0">
              <a:solidFill>
                <a:srgbClr val="C17F2E"/>
              </a:solidFill>
              <a:latin typeface="Georgia"/>
            </a:endParaRPr>
          </a:p>
        </p:txBody>
      </p: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FF7D4D3D-D115-7A43-7CF3-2F927D6833A7}"/>
              </a:ext>
            </a:extLst>
          </p:cNvPr>
          <p:cNvCxnSpPr>
            <a:cxnSpLocks/>
          </p:cNvCxnSpPr>
          <p:nvPr/>
        </p:nvCxnSpPr>
        <p:spPr>
          <a:xfrm rot="5400000" flipH="1">
            <a:off x="3531870" y="1428750"/>
            <a:ext cx="228600" cy="4594860"/>
          </a:xfrm>
          <a:prstGeom prst="bentConnector3">
            <a:avLst>
              <a:gd name="adj1" fmla="val -215315"/>
            </a:avLst>
          </a:prstGeom>
          <a:ln w="11430">
            <a:solidFill>
              <a:srgbClr val="B7B2A6"/>
            </a:solidFill>
            <a:headEnd type="stealt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34440" y="2743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5B6472"/>
                </a:solidFill>
                <a:latin typeface="Arial Narrow"/>
              </a:rPr>
              <a:t>THE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3134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17F2E"/>
                </a:solidFill>
                <a:latin typeface="Consolas"/>
              </a:rPr>
              <a:t>STEP 05 / 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987552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F1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C17F2E"/>
                </a:solidFill>
                <a:latin typeface="Arial Narrow"/>
              </a:rPr>
              <a:t>PHASE 1 — SELF-DESCRIPTION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3177540"/>
            <a:ext cx="18288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0" y="3177540"/>
            <a:ext cx="96012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5432957" y="1874520"/>
            <a:ext cx="250842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499036" y="1874520"/>
            <a:ext cx="536283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812280" y="3048218"/>
            <a:ext cx="640080" cy="54864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812280" y="3101712"/>
            <a:ext cx="3017520" cy="58878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31720" y="274320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41448" y="283464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Event Broker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durable delivery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2514600"/>
            <a:ext cx="1737360" cy="132588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84648" y="2606040"/>
            <a:ext cx="1517904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4181F"/>
                </a:solidFill>
                <a:latin typeface="Arial Narrow"/>
              </a:rPr>
              <a:t>AIAC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17F2E"/>
                </a:solidFill>
                <a:latin typeface="Georgia"/>
              </a:rPr>
              <a:t>reconciliation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097280"/>
            <a:ext cx="1874519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53128" y="1188720"/>
            <a:ext cx="1655063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Agent card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GitIssueAgent's own skills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097280"/>
            <a:ext cx="1920240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1188720"/>
            <a:ext cx="170078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IssueHandler / AdminIssues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tools report own ops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25146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2606040"/>
            <a:ext cx="1563624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Policy text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knowledge base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265176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39528" y="2743200"/>
            <a:ext cx="138074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OPA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live rules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74920"/>
            <a:ext cx="11183112" cy="141732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5074920"/>
            <a:ext cx="38100" cy="1417320"/>
          </a:xfrm>
          <a:prstGeom prst="rect">
            <a:avLst/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239512"/>
            <a:ext cx="10515600" cy="990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 i="0" dirty="0">
                <a:solidFill>
                  <a:srgbClr val="14181F"/>
                </a:solidFill>
                <a:latin typeface="Arial Narrow"/>
              </a:rPr>
              <a:t>Write the self-description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 dirty="0">
                <a:solidFill>
                  <a:srgbClr val="5B6472"/>
                </a:solidFill>
                <a:latin typeface="Georgia"/>
              </a:rPr>
              <a:t>The derived role and scopes are written back into the identity provider. Nothing has been granted to anyone yet — this only records what </a:t>
            </a:r>
            <a:r>
              <a:rPr sz="1600" b="0" i="0" dirty="0" err="1">
                <a:solidFill>
                  <a:srgbClr val="5B6472"/>
                </a:solidFill>
                <a:latin typeface="Georgia"/>
              </a:rPr>
              <a:t>GitIssueAgent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 is, not what it may reach.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5895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1498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27101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527048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78308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03911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229514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55117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6E6157D4-FDBE-76A3-BB72-9B82A31432B8}"/>
              </a:ext>
            </a:extLst>
          </p:cNvPr>
          <p:cNvCxnSpPr>
            <a:cxnSpLocks/>
          </p:cNvCxnSpPr>
          <p:nvPr/>
        </p:nvCxnSpPr>
        <p:spPr>
          <a:xfrm rot="5400000" flipH="1">
            <a:off x="3531870" y="1428750"/>
            <a:ext cx="228600" cy="4594860"/>
          </a:xfrm>
          <a:prstGeom prst="bentConnector3">
            <a:avLst>
              <a:gd name="adj1" fmla="val -215315"/>
            </a:avLst>
          </a:prstGeom>
          <a:ln w="25400">
            <a:solidFill>
              <a:srgbClr val="C17F2E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52E40B2A-4B90-19C4-4A03-A3E894D8FCE7}"/>
              </a:ext>
            </a:extLst>
          </p:cNvPr>
          <p:cNvSpPr/>
          <p:nvPr/>
        </p:nvSpPr>
        <p:spPr>
          <a:xfrm>
            <a:off x="548640" y="274320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6C2A744-BD65-B570-DCDD-0313F19E5099}"/>
              </a:ext>
            </a:extLst>
          </p:cNvPr>
          <p:cNvSpPr txBox="1"/>
          <p:nvPr/>
        </p:nvSpPr>
        <p:spPr>
          <a:xfrm>
            <a:off x="658368" y="2888582"/>
            <a:ext cx="1380744" cy="5779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1250" b="1" i="0" dirty="0">
                <a:solidFill>
                  <a:srgbClr val="14181F"/>
                </a:solidFill>
                <a:latin typeface="Arial Narrow"/>
              </a:rPr>
              <a:t>IdP (</a:t>
            </a:r>
            <a:r>
              <a:rPr sz="1250" b="1" i="0" dirty="0" err="1">
                <a:solidFill>
                  <a:srgbClr val="14181F"/>
                </a:solidFill>
                <a:latin typeface="Arial Narrow"/>
              </a:rPr>
              <a:t>Keycloak</a:t>
            </a:r>
            <a:r>
              <a:rPr lang="en-US" sz="1250" b="1" i="0" dirty="0">
                <a:solidFill>
                  <a:srgbClr val="14181F"/>
                </a:solidFill>
                <a:latin typeface="Arial Narrow"/>
              </a:rPr>
              <a:t>)</a:t>
            </a:r>
            <a:endParaRPr sz="1250" b="1" i="0" dirty="0">
              <a:solidFill>
                <a:srgbClr val="14181F"/>
              </a:solidFill>
              <a:latin typeface="Arial Narrow"/>
            </a:endParaRP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b="0" i="0" dirty="0">
                <a:solidFill>
                  <a:srgbClr val="C17F2E"/>
                </a:solidFill>
                <a:latin typeface="Georgia"/>
              </a:rPr>
              <a:t>I</a:t>
            </a:r>
            <a:r>
              <a:rPr sz="900" b="0" i="0" dirty="0">
                <a:solidFill>
                  <a:srgbClr val="C17F2E"/>
                </a:solidFill>
                <a:latin typeface="Georgia"/>
              </a:rPr>
              <a:t>dentity</a:t>
            </a:r>
            <a:endParaRPr lang="en-US" sz="900" b="0" i="0" dirty="0">
              <a:solidFill>
                <a:srgbClr val="C17F2E"/>
              </a:solidFill>
              <a:latin typeface="Georgia"/>
            </a:endParaRP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b="0" i="0" dirty="0">
                <a:solidFill>
                  <a:srgbClr val="C17F2E"/>
                </a:solidFill>
                <a:latin typeface="Georgia"/>
              </a:rPr>
              <a:t>roles, scopes, catalog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1EC432-7D57-3D9A-8170-BDA329BB0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ACA84F-A556-CB25-0AF4-94464D07C241}"/>
              </a:ext>
            </a:extLst>
          </p:cNvPr>
          <p:cNvSpPr txBox="1"/>
          <p:nvPr/>
        </p:nvSpPr>
        <p:spPr>
          <a:xfrm>
            <a:off x="1234440" y="2743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5B6472"/>
                </a:solidFill>
                <a:latin typeface="Arial Narrow"/>
              </a:rPr>
              <a:t>THE WALKTHROUGH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311B4B-B944-67AC-1934-E0E276DDCE85}"/>
              </a:ext>
            </a:extLst>
          </p:cNvPr>
          <p:cNvSpPr txBox="1"/>
          <p:nvPr/>
        </p:nvSpPr>
        <p:spPr>
          <a:xfrm>
            <a:off x="9326880" y="292608"/>
            <a:ext cx="2313432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 dirty="0">
                <a:solidFill>
                  <a:srgbClr val="C17F2E"/>
                </a:solidFill>
                <a:latin typeface="Consolas"/>
              </a:rPr>
              <a:t>STEP 0</a:t>
            </a:r>
            <a:r>
              <a:rPr lang="en-US" sz="1200" b="1" i="0" dirty="0">
                <a:solidFill>
                  <a:srgbClr val="C17F2E"/>
                </a:solidFill>
                <a:latin typeface="Consolas"/>
              </a:rPr>
              <a:t>6</a:t>
            </a:r>
            <a:r>
              <a:rPr sz="1200" b="1" i="0" dirty="0">
                <a:solidFill>
                  <a:srgbClr val="C17F2E"/>
                </a:solidFill>
                <a:latin typeface="Consolas"/>
              </a:rPr>
              <a:t> / 9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C194EFFA-37D9-5753-4516-032C20B6E657}"/>
              </a:ext>
            </a:extLst>
          </p:cNvPr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18506FF-1590-9E16-5EE1-C9ED8EF1312C}"/>
              </a:ext>
            </a:extLst>
          </p:cNvPr>
          <p:cNvSpPr/>
          <p:nvPr/>
        </p:nvSpPr>
        <p:spPr>
          <a:xfrm>
            <a:off x="502920" y="987552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F1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C17F2E"/>
                </a:solidFill>
                <a:latin typeface="Arial Narrow"/>
              </a:rPr>
              <a:t>PHASE 1 — SELF-DESCRIPTION</a:t>
            </a:r>
          </a:p>
        </p:txBody>
      </p: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9485228C-09F4-F9F9-8117-06FEBC3DD1F7}"/>
              </a:ext>
            </a:extLst>
          </p:cNvPr>
          <p:cNvCxnSpPr/>
          <p:nvPr/>
        </p:nvCxnSpPr>
        <p:spPr>
          <a:xfrm>
            <a:off x="2148840" y="3177540"/>
            <a:ext cx="18288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AEDD98B8-A164-1FE3-4DCF-EFD33E7F342D}"/>
              </a:ext>
            </a:extLst>
          </p:cNvPr>
          <p:cNvCxnSpPr/>
          <p:nvPr/>
        </p:nvCxnSpPr>
        <p:spPr>
          <a:xfrm>
            <a:off x="4114800" y="3177540"/>
            <a:ext cx="96012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E7BA780C-4EB5-28D8-CA60-569E7FF18DD0}"/>
              </a:ext>
            </a:extLst>
          </p:cNvPr>
          <p:cNvCxnSpPr/>
          <p:nvPr/>
        </p:nvCxnSpPr>
        <p:spPr>
          <a:xfrm flipH="1" flipV="1">
            <a:off x="5432957" y="1874520"/>
            <a:ext cx="250842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F7C4D98A-7C56-64FA-3AC8-719C067F6F90}"/>
              </a:ext>
            </a:extLst>
          </p:cNvPr>
          <p:cNvCxnSpPr/>
          <p:nvPr/>
        </p:nvCxnSpPr>
        <p:spPr>
          <a:xfrm flipV="1">
            <a:off x="6499036" y="1874520"/>
            <a:ext cx="536283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144D8FE6-BD98-FB07-AA4E-7DA0C24EEB3D}"/>
              </a:ext>
            </a:extLst>
          </p:cNvPr>
          <p:cNvCxnSpPr/>
          <p:nvPr/>
        </p:nvCxnSpPr>
        <p:spPr>
          <a:xfrm flipV="1">
            <a:off x="6812280" y="3048218"/>
            <a:ext cx="640080" cy="54864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553C6A39-ADED-DBF8-9E4A-FC35793F9F12}"/>
              </a:ext>
            </a:extLst>
          </p:cNvPr>
          <p:cNvCxnSpPr/>
          <p:nvPr/>
        </p:nvCxnSpPr>
        <p:spPr>
          <a:xfrm flipV="1">
            <a:off x="6812280" y="3101712"/>
            <a:ext cx="3017520" cy="58878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64A9F59-AD27-96A1-2E11-33DF6A07AB3E}"/>
              </a:ext>
            </a:extLst>
          </p:cNvPr>
          <p:cNvSpPr/>
          <p:nvPr/>
        </p:nvSpPr>
        <p:spPr>
          <a:xfrm>
            <a:off x="2331720" y="274320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20C252-D53A-7809-9828-1C90A58FB718}"/>
              </a:ext>
            </a:extLst>
          </p:cNvPr>
          <p:cNvSpPr txBox="1"/>
          <p:nvPr/>
        </p:nvSpPr>
        <p:spPr>
          <a:xfrm>
            <a:off x="2441448" y="283464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Event Broker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durable delivery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4102204-38E7-19F3-9520-DC10B7F8F83B}"/>
              </a:ext>
            </a:extLst>
          </p:cNvPr>
          <p:cNvSpPr/>
          <p:nvPr/>
        </p:nvSpPr>
        <p:spPr>
          <a:xfrm>
            <a:off x="5074920" y="2514600"/>
            <a:ext cx="1737360" cy="132588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1D2555-3F92-0210-566D-E00653F9EF36}"/>
              </a:ext>
            </a:extLst>
          </p:cNvPr>
          <p:cNvSpPr txBox="1"/>
          <p:nvPr/>
        </p:nvSpPr>
        <p:spPr>
          <a:xfrm>
            <a:off x="5184648" y="2606040"/>
            <a:ext cx="1517904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4181F"/>
                </a:solidFill>
                <a:latin typeface="Arial Narrow"/>
              </a:rPr>
              <a:t>AIAC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17F2E"/>
                </a:solidFill>
                <a:latin typeface="Georgia"/>
              </a:rPr>
              <a:t>reconciliation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0A54264-E04B-6057-213A-E4AE4C9E7998}"/>
              </a:ext>
            </a:extLst>
          </p:cNvPr>
          <p:cNvSpPr/>
          <p:nvPr/>
        </p:nvSpPr>
        <p:spPr>
          <a:xfrm>
            <a:off x="4343400" y="1097280"/>
            <a:ext cx="1874519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7BAEF9-3F0F-436B-427B-88179F33E9A5}"/>
              </a:ext>
            </a:extLst>
          </p:cNvPr>
          <p:cNvSpPr txBox="1"/>
          <p:nvPr/>
        </p:nvSpPr>
        <p:spPr>
          <a:xfrm>
            <a:off x="4453128" y="1188720"/>
            <a:ext cx="1655063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Agent card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GitIssueAgent's own skills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E70E996-0A8D-AC25-441A-D548B12A59D4}"/>
              </a:ext>
            </a:extLst>
          </p:cNvPr>
          <p:cNvSpPr/>
          <p:nvPr/>
        </p:nvSpPr>
        <p:spPr>
          <a:xfrm>
            <a:off x="6400800" y="1097280"/>
            <a:ext cx="1920240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0736DD-59FB-7DA2-23A2-727EEDB5B84C}"/>
              </a:ext>
            </a:extLst>
          </p:cNvPr>
          <p:cNvSpPr txBox="1"/>
          <p:nvPr/>
        </p:nvSpPr>
        <p:spPr>
          <a:xfrm>
            <a:off x="6510528" y="1188720"/>
            <a:ext cx="170078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IssueHandler / AdminIssues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tools report own ops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C7F12D0-2594-9CC4-DAD4-B1964501B64B}"/>
              </a:ext>
            </a:extLst>
          </p:cNvPr>
          <p:cNvSpPr/>
          <p:nvPr/>
        </p:nvSpPr>
        <p:spPr>
          <a:xfrm>
            <a:off x="7452360" y="25146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75A3D4-6AD2-BDE5-3063-3493C17D9E75}"/>
              </a:ext>
            </a:extLst>
          </p:cNvPr>
          <p:cNvSpPr txBox="1"/>
          <p:nvPr/>
        </p:nvSpPr>
        <p:spPr>
          <a:xfrm>
            <a:off x="7562088" y="2606040"/>
            <a:ext cx="1563624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Policy text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knowledge base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2282AB8-97DC-CB97-E1FC-85367B420157}"/>
              </a:ext>
            </a:extLst>
          </p:cNvPr>
          <p:cNvSpPr/>
          <p:nvPr/>
        </p:nvSpPr>
        <p:spPr>
          <a:xfrm>
            <a:off x="9829800" y="265176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CA97E0-8F2D-26FC-BFAB-32CD81332554}"/>
              </a:ext>
            </a:extLst>
          </p:cNvPr>
          <p:cNvSpPr txBox="1"/>
          <p:nvPr/>
        </p:nvSpPr>
        <p:spPr>
          <a:xfrm>
            <a:off x="9939528" y="2743200"/>
            <a:ext cx="138074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OPA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live rules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1E78960-B0EE-D6B5-D695-514B2FFD12C3}"/>
              </a:ext>
            </a:extLst>
          </p:cNvPr>
          <p:cNvSpPr/>
          <p:nvPr/>
        </p:nvSpPr>
        <p:spPr>
          <a:xfrm>
            <a:off x="502920" y="5074920"/>
            <a:ext cx="11183112" cy="141732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3BFDE12-4540-5CC6-D3D2-9BBF4E20520C}"/>
              </a:ext>
            </a:extLst>
          </p:cNvPr>
          <p:cNvSpPr/>
          <p:nvPr/>
        </p:nvSpPr>
        <p:spPr>
          <a:xfrm>
            <a:off x="502920" y="5074920"/>
            <a:ext cx="38100" cy="1417320"/>
          </a:xfrm>
          <a:prstGeom prst="rect">
            <a:avLst/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E62CB8D-6B7C-33E4-9FF2-40B25A446379}"/>
              </a:ext>
            </a:extLst>
          </p:cNvPr>
          <p:cNvSpPr/>
          <p:nvPr/>
        </p:nvSpPr>
        <p:spPr>
          <a:xfrm>
            <a:off x="50292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3D9F480-5541-1FDE-7B82-02C917361DE0}"/>
              </a:ext>
            </a:extLst>
          </p:cNvPr>
          <p:cNvSpPr/>
          <p:nvPr/>
        </p:nvSpPr>
        <p:spPr>
          <a:xfrm>
            <a:off x="75895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8EF5685-2D5C-92CD-86E5-D4E425A5935F}"/>
              </a:ext>
            </a:extLst>
          </p:cNvPr>
          <p:cNvSpPr/>
          <p:nvPr/>
        </p:nvSpPr>
        <p:spPr>
          <a:xfrm>
            <a:off x="101498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237A6354-24A8-1003-0E20-439C6A721695}"/>
              </a:ext>
            </a:extLst>
          </p:cNvPr>
          <p:cNvSpPr/>
          <p:nvPr/>
        </p:nvSpPr>
        <p:spPr>
          <a:xfrm>
            <a:off x="127101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2A106339-A709-978A-D074-FAC41E199AEE}"/>
              </a:ext>
            </a:extLst>
          </p:cNvPr>
          <p:cNvSpPr/>
          <p:nvPr/>
        </p:nvSpPr>
        <p:spPr>
          <a:xfrm>
            <a:off x="1527048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C2E4F63-55A0-9D36-04DD-4C87B769FB7D}"/>
              </a:ext>
            </a:extLst>
          </p:cNvPr>
          <p:cNvSpPr/>
          <p:nvPr/>
        </p:nvSpPr>
        <p:spPr>
          <a:xfrm>
            <a:off x="178308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CA59603-2ADD-F15E-748E-209EF464384B}"/>
              </a:ext>
            </a:extLst>
          </p:cNvPr>
          <p:cNvSpPr/>
          <p:nvPr/>
        </p:nvSpPr>
        <p:spPr>
          <a:xfrm>
            <a:off x="203911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CC05097F-5ACE-6AEF-9CA0-851EF16A9830}"/>
              </a:ext>
            </a:extLst>
          </p:cNvPr>
          <p:cNvSpPr/>
          <p:nvPr/>
        </p:nvSpPr>
        <p:spPr>
          <a:xfrm>
            <a:off x="229514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2FEAB685-E0F3-1133-1DAF-2583F8AE838B}"/>
              </a:ext>
            </a:extLst>
          </p:cNvPr>
          <p:cNvSpPr/>
          <p:nvPr/>
        </p:nvSpPr>
        <p:spPr>
          <a:xfrm>
            <a:off x="255117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0D03E374-BCFA-A931-072D-68824A8FC499}"/>
              </a:ext>
            </a:extLst>
          </p:cNvPr>
          <p:cNvCxnSpPr>
            <a:cxnSpLocks/>
          </p:cNvCxnSpPr>
          <p:nvPr/>
        </p:nvCxnSpPr>
        <p:spPr>
          <a:xfrm rot="5400000" flipH="1">
            <a:off x="3531870" y="1428750"/>
            <a:ext cx="228600" cy="4594860"/>
          </a:xfrm>
          <a:prstGeom prst="bentConnector3">
            <a:avLst>
              <a:gd name="adj1" fmla="val -215315"/>
            </a:avLst>
          </a:prstGeom>
          <a:ln w="25400">
            <a:solidFill>
              <a:srgbClr val="C17F2E"/>
            </a:solidFill>
            <a:headEnd type="stealth" w="lg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9B08ADAD-17F6-B04B-8D0F-0866A9BACF5A}"/>
              </a:ext>
            </a:extLst>
          </p:cNvPr>
          <p:cNvSpPr/>
          <p:nvPr/>
        </p:nvSpPr>
        <p:spPr>
          <a:xfrm>
            <a:off x="548640" y="274320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B1B226-4102-2F1D-A4E5-08AD998243EC}"/>
              </a:ext>
            </a:extLst>
          </p:cNvPr>
          <p:cNvSpPr txBox="1"/>
          <p:nvPr/>
        </p:nvSpPr>
        <p:spPr>
          <a:xfrm>
            <a:off x="658368" y="2888582"/>
            <a:ext cx="1380744" cy="5779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1250" b="1" i="0" dirty="0">
                <a:solidFill>
                  <a:srgbClr val="14181F"/>
                </a:solidFill>
                <a:latin typeface="Arial Narrow"/>
              </a:rPr>
              <a:t>IdP (</a:t>
            </a:r>
            <a:r>
              <a:rPr sz="1250" b="1" i="0" dirty="0" err="1">
                <a:solidFill>
                  <a:srgbClr val="14181F"/>
                </a:solidFill>
                <a:latin typeface="Arial Narrow"/>
              </a:rPr>
              <a:t>Keycloak</a:t>
            </a:r>
            <a:r>
              <a:rPr lang="en-US" sz="1250" b="1" i="0" dirty="0">
                <a:solidFill>
                  <a:srgbClr val="14181F"/>
                </a:solidFill>
                <a:latin typeface="Arial Narrow"/>
              </a:rPr>
              <a:t>)</a:t>
            </a:r>
            <a:endParaRPr sz="1250" b="1" i="0" dirty="0">
              <a:solidFill>
                <a:srgbClr val="14181F"/>
              </a:solidFill>
              <a:latin typeface="Arial Narrow"/>
            </a:endParaRP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b="0" i="0" dirty="0">
                <a:solidFill>
                  <a:srgbClr val="C17F2E"/>
                </a:solidFill>
                <a:latin typeface="Georgia"/>
              </a:rPr>
              <a:t>I</a:t>
            </a:r>
            <a:r>
              <a:rPr sz="900" b="0" i="0" dirty="0">
                <a:solidFill>
                  <a:srgbClr val="C17F2E"/>
                </a:solidFill>
                <a:latin typeface="Georgia"/>
              </a:rPr>
              <a:t>dentity</a:t>
            </a:r>
            <a:endParaRPr lang="en-US" sz="900" b="0" i="0" dirty="0">
              <a:solidFill>
                <a:srgbClr val="C17F2E"/>
              </a:solidFill>
              <a:latin typeface="Georgia"/>
            </a:endParaRP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b="0" i="0" dirty="0">
                <a:solidFill>
                  <a:srgbClr val="C17F2E"/>
                </a:solidFill>
                <a:latin typeface="Georgia"/>
              </a:rPr>
              <a:t>roles, scopes, catalog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2869FD-E63D-46CA-AF63-E0F7283E2713}"/>
              </a:ext>
            </a:extLst>
          </p:cNvPr>
          <p:cNvSpPr txBox="1"/>
          <p:nvPr/>
        </p:nvSpPr>
        <p:spPr>
          <a:xfrm>
            <a:off x="868680" y="5239512"/>
            <a:ext cx="10515600" cy="990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 i="0" dirty="0">
                <a:solidFill>
                  <a:srgbClr val="14181F"/>
                </a:solidFill>
                <a:latin typeface="Arial Narrow"/>
              </a:rPr>
              <a:t>Who else exists in the system right now?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 dirty="0">
                <a:solidFill>
                  <a:srgbClr val="5B6472"/>
                </a:solidFill>
                <a:latin typeface="Georgia"/>
              </a:rPr>
              <a:t>AIAC reads the full </a:t>
            </a:r>
            <a:r>
              <a:rPr lang="en-US" sz="1600" b="0" i="0" dirty="0">
                <a:solidFill>
                  <a:srgbClr val="5B6472"/>
                </a:solidFill>
                <a:latin typeface="Georgia"/>
              </a:rPr>
              <a:t>Role/Scope 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catalog — Developer, Tester, every other agent's own role. </a:t>
            </a:r>
            <a:r>
              <a:rPr sz="1600" b="0" i="0" dirty="0" err="1">
                <a:solidFill>
                  <a:srgbClr val="5B6472"/>
                </a:solidFill>
                <a:latin typeface="Georgia"/>
              </a:rPr>
              <a:t>WeatherAgent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 is in this catalog too, but nothing about it overlaps with issue-tracking scopes, so it never enters the picture again.</a:t>
            </a:r>
          </a:p>
        </p:txBody>
      </p:sp>
    </p:spTree>
    <p:extLst>
      <p:ext uri="{BB962C8B-B14F-4D97-AF65-F5344CB8AC3E}">
        <p14:creationId xmlns:p14="http://schemas.microsoft.com/office/powerpoint/2010/main" val="1707714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34440" y="2743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5B6472"/>
                </a:solidFill>
                <a:latin typeface="Arial Narrow"/>
              </a:rPr>
              <a:t>THE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3134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17F2E"/>
                </a:solidFill>
                <a:latin typeface="Consolas"/>
              </a:rPr>
              <a:t>STEP 07 / 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987552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E1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4D7C62"/>
                </a:solidFill>
                <a:latin typeface="Arial Narrow"/>
              </a:rPr>
              <a:t>PHASE 2 — POLICY MAPPING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3177540"/>
            <a:ext cx="18288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0" y="3177540"/>
            <a:ext cx="96012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5432957" y="1874520"/>
            <a:ext cx="250842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499036" y="1874520"/>
            <a:ext cx="536283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812280" y="3048218"/>
            <a:ext cx="640080" cy="54864"/>
          </a:xfrm>
          <a:prstGeom prst="line">
            <a:avLst/>
          </a:prstGeom>
          <a:ln w="25400">
            <a:solidFill>
              <a:srgbClr val="C17F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812280" y="3101712"/>
            <a:ext cx="3017520" cy="58878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8640" y="274320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331720" y="274320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41448" y="283464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Event Broker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durable delivery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2514600"/>
            <a:ext cx="1737360" cy="132588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84648" y="2606040"/>
            <a:ext cx="1517904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4181F"/>
                </a:solidFill>
                <a:latin typeface="Arial Narrow"/>
              </a:rPr>
              <a:t>AIAC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17F2E"/>
                </a:solidFill>
                <a:latin typeface="Georgia"/>
              </a:rPr>
              <a:t>reconciliation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097280"/>
            <a:ext cx="1874519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53128" y="1188720"/>
            <a:ext cx="1655063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Agent card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GitIssueAgent's own skills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097280"/>
            <a:ext cx="1920240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1188720"/>
            <a:ext cx="170078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IssueHandler / AdminIssues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tools report own ops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25146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2606040"/>
            <a:ext cx="1563624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4181F"/>
                </a:solidFill>
                <a:latin typeface="Arial Narrow"/>
              </a:rPr>
              <a:t>Policy text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17F2E"/>
                </a:solidFill>
                <a:latin typeface="Georgia"/>
              </a:rPr>
              <a:t>knowledge base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265176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39528" y="2743200"/>
            <a:ext cx="138074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OPA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live rules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74920"/>
            <a:ext cx="11183112" cy="141732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5074920"/>
            <a:ext cx="38100" cy="1417320"/>
          </a:xfrm>
          <a:prstGeom prst="rect">
            <a:avLst/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239512"/>
            <a:ext cx="10515600" cy="1297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 i="0" dirty="0">
                <a:solidFill>
                  <a:srgbClr val="14181F"/>
                </a:solidFill>
                <a:latin typeface="Arial Narrow"/>
              </a:rPr>
              <a:t>What does policy say about each of those roles?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 dirty="0">
                <a:solidFill>
                  <a:srgbClr val="5B6472"/>
                </a:solidFill>
                <a:latin typeface="Georgia"/>
              </a:rPr>
              <a:t>The governing text is checked </a:t>
            </a:r>
            <a:r>
              <a:rPr lang="en-US" sz="1600" b="0" i="0" dirty="0">
                <a:solidFill>
                  <a:srgbClr val="5B6472"/>
                </a:solidFill>
                <a:latin typeface="Georgia"/>
              </a:rPr>
              <a:t>for the </a:t>
            </a:r>
            <a:r>
              <a:rPr lang="en-US" sz="1600" b="0" i="0" dirty="0">
                <a:solidFill>
                  <a:srgbClr val="FF0000"/>
                </a:solidFill>
                <a:latin typeface="Georgia"/>
              </a:rPr>
              <a:t>new</a:t>
            </a:r>
            <a:r>
              <a:rPr sz="1600" b="0" i="0" dirty="0">
                <a:solidFill>
                  <a:srgbClr val="FF0000"/>
                </a:solidFill>
                <a:latin typeface="Georgia"/>
              </a:rPr>
              <a:t> role</a:t>
            </a:r>
            <a:r>
              <a:rPr lang="en-US" sz="1600" b="0" i="0" dirty="0">
                <a:solidFill>
                  <a:srgbClr val="FF0000"/>
                </a:solidFill>
                <a:latin typeface="Georgia"/>
              </a:rPr>
              <a:t>s and scopes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. “Developers can read and update” → Developer </a:t>
            </a:r>
            <a:r>
              <a:rPr lang="en-US" sz="1600" b="0" i="0" dirty="0">
                <a:solidFill>
                  <a:srgbClr val="5B6472"/>
                </a:solidFill>
                <a:latin typeface="Georgia"/>
              </a:rPr>
              <a:t>effectively gets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 </a:t>
            </a:r>
            <a:r>
              <a:rPr sz="1600" b="0" i="0" dirty="0" err="1">
                <a:solidFill>
                  <a:srgbClr val="5B6472"/>
                </a:solidFill>
                <a:latin typeface="Georgia"/>
              </a:rPr>
              <a:t>readIssue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 + </a:t>
            </a:r>
            <a:r>
              <a:rPr sz="1600" b="0" i="0" dirty="0" err="1">
                <a:solidFill>
                  <a:srgbClr val="5B6472"/>
                </a:solidFill>
                <a:latin typeface="Georgia"/>
              </a:rPr>
              <a:t>updateIssue</a:t>
            </a:r>
            <a:r>
              <a:rPr lang="en-US" sz="1600" b="0" i="0" dirty="0">
                <a:solidFill>
                  <a:srgbClr val="5B6472"/>
                </a:solidFill>
                <a:latin typeface="Georgia"/>
              </a:rPr>
              <a:t> via the agent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. “Testers, in addition, can open and close” → Tester gets all four</a:t>
            </a:r>
            <a:r>
              <a:rPr lang="en-US" sz="1600" b="0" i="0" dirty="0">
                <a:solidFill>
                  <a:srgbClr val="5B6472"/>
                </a:solidFill>
                <a:latin typeface="Georgia"/>
              </a:rPr>
              <a:t> also via the agent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5895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1498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27101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527048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78308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03911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229514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55117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1C4E8B4-A82A-EA0B-7725-B02E7898FF4E}"/>
              </a:ext>
            </a:extLst>
          </p:cNvPr>
          <p:cNvSpPr txBox="1"/>
          <p:nvPr/>
        </p:nvSpPr>
        <p:spPr>
          <a:xfrm>
            <a:off x="658368" y="2888582"/>
            <a:ext cx="1380744" cy="5779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1250" b="1" dirty="0">
                <a:solidFill>
                  <a:srgbClr val="B7B2A6"/>
                </a:solidFill>
                <a:latin typeface="Arial Narrow"/>
              </a:rPr>
              <a:t>IdP (</a:t>
            </a:r>
            <a:r>
              <a:rPr lang="en-US" sz="1250" b="1" dirty="0" err="1">
                <a:solidFill>
                  <a:srgbClr val="B7B2A6"/>
                </a:solidFill>
                <a:latin typeface="Arial Narrow"/>
              </a:rPr>
              <a:t>Keycloak</a:t>
            </a:r>
            <a:r>
              <a:rPr lang="en-US" sz="1250" b="1" dirty="0">
                <a:solidFill>
                  <a:srgbClr val="B7B2A6"/>
                </a:solidFill>
                <a:latin typeface="Arial Narrow"/>
              </a:rPr>
              <a:t>)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b="0" i="0" dirty="0">
                <a:solidFill>
                  <a:srgbClr val="B7B2A6"/>
                </a:solidFill>
                <a:latin typeface="Georgia"/>
              </a:rPr>
              <a:t>I</a:t>
            </a:r>
            <a:r>
              <a:rPr sz="900" b="0" i="0" dirty="0">
                <a:solidFill>
                  <a:srgbClr val="B7B2A6"/>
                </a:solidFill>
                <a:latin typeface="Georgia"/>
              </a:rPr>
              <a:t>dentity</a:t>
            </a:r>
            <a:endParaRPr lang="en-US" sz="900" b="0" i="0" dirty="0">
              <a:solidFill>
                <a:srgbClr val="B7B2A6"/>
              </a:solidFill>
              <a:latin typeface="Georgia"/>
            </a:endParaRP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dirty="0">
                <a:solidFill>
                  <a:srgbClr val="B7B2A6"/>
                </a:solidFill>
                <a:latin typeface="Georgia"/>
              </a:rPr>
              <a:t>roles, scopes, catalog</a:t>
            </a:r>
            <a:endParaRPr lang="en-US" sz="900" dirty="0">
              <a:solidFill>
                <a:srgbClr val="C17F2E"/>
              </a:solidFill>
              <a:latin typeface="Georgia"/>
            </a:endParaRPr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13D5A569-968F-98BD-C6AD-892C75346EE9}"/>
              </a:ext>
            </a:extLst>
          </p:cNvPr>
          <p:cNvCxnSpPr>
            <a:cxnSpLocks/>
          </p:cNvCxnSpPr>
          <p:nvPr/>
        </p:nvCxnSpPr>
        <p:spPr>
          <a:xfrm rot="5400000" flipH="1">
            <a:off x="3531870" y="1428750"/>
            <a:ext cx="228600" cy="4594860"/>
          </a:xfrm>
          <a:prstGeom prst="bentConnector3">
            <a:avLst>
              <a:gd name="adj1" fmla="val -215315"/>
            </a:avLst>
          </a:prstGeom>
          <a:ln w="11430">
            <a:solidFill>
              <a:srgbClr val="B7B2A6"/>
            </a:solidFill>
            <a:headEnd type="stealt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34440" y="2743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5B6472"/>
                </a:solidFill>
                <a:latin typeface="Arial Narrow"/>
              </a:rPr>
              <a:t>THE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3134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17F2E"/>
                </a:solidFill>
                <a:latin typeface="Consolas"/>
              </a:rPr>
              <a:t>STEP 08 / 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987552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E1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4D7C62"/>
                </a:solidFill>
                <a:latin typeface="Arial Narrow"/>
              </a:rPr>
              <a:t>PHASE 2 — POLICY MAPPING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3177540"/>
            <a:ext cx="18288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0" y="3177540"/>
            <a:ext cx="96012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5432957" y="1874520"/>
            <a:ext cx="250842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499036" y="1874520"/>
            <a:ext cx="536283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812280" y="3048218"/>
            <a:ext cx="640080" cy="54864"/>
          </a:xfrm>
          <a:prstGeom prst="line">
            <a:avLst/>
          </a:prstGeom>
          <a:ln w="25400">
            <a:solidFill>
              <a:srgbClr val="C17F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812280" y="3101712"/>
            <a:ext cx="3017520" cy="58878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8640" y="274320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331720" y="274320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41448" y="283464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Event Broker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durable delivery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2514600"/>
            <a:ext cx="1737360" cy="132588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84648" y="2606040"/>
            <a:ext cx="1517904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4181F"/>
                </a:solidFill>
                <a:latin typeface="Arial Narrow"/>
              </a:rPr>
              <a:t>AIAC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17F2E"/>
                </a:solidFill>
                <a:latin typeface="Georgia"/>
              </a:rPr>
              <a:t>reconciliation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097280"/>
            <a:ext cx="1874519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53128" y="1188720"/>
            <a:ext cx="1655063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Agent card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GitIssueAgent's own skills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097280"/>
            <a:ext cx="1920240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1188720"/>
            <a:ext cx="170078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IssueHandler / AdminIssues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tools report own ops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25146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2606040"/>
            <a:ext cx="1563624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4181F"/>
                </a:solidFill>
                <a:latin typeface="Arial Narrow"/>
              </a:rPr>
              <a:t>Policy text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17F2E"/>
                </a:solidFill>
                <a:latin typeface="Georgia"/>
              </a:rPr>
              <a:t>knowledge base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32520" y="2350008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Arial Narrow"/>
              </a:rPr>
              <a:t>two</a:t>
            </a:r>
            <a:r>
              <a:rPr sz="850" b="1" dirty="0">
                <a:solidFill>
                  <a:srgbClr val="FFFFFF"/>
                </a:solidFill>
                <a:latin typeface="Arial Narrow"/>
              </a:rPr>
              <a:t> pass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29800" y="265176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939528" y="2743200"/>
            <a:ext cx="138074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OPA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live rules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074920"/>
            <a:ext cx="11183112" cy="141732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2920" y="5074920"/>
            <a:ext cx="38100" cy="1417320"/>
          </a:xfrm>
          <a:prstGeom prst="rect">
            <a:avLst/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5239512"/>
            <a:ext cx="10515600" cy="7362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en-US" b="1" dirty="0">
                <a:solidFill>
                  <a:srgbClr val="14181F"/>
                </a:solidFill>
                <a:latin typeface="Arial Narrow"/>
              </a:rPr>
              <a:t>Two </a:t>
            </a:r>
            <a:r>
              <a:rPr b="1" i="0" dirty="0">
                <a:solidFill>
                  <a:srgbClr val="14181F"/>
                </a:solidFill>
                <a:latin typeface="Arial Narrow"/>
              </a:rPr>
              <a:t>independent pas</a:t>
            </a:r>
            <a:r>
              <a:rPr lang="en-US" b="1" i="0" dirty="0">
                <a:solidFill>
                  <a:srgbClr val="14181F"/>
                </a:solidFill>
                <a:latin typeface="Arial Narrow"/>
              </a:rPr>
              <a:t>ses : new role            existing scopes + existing roles             new scope 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dirty="0">
                <a:solidFill>
                  <a:srgbClr val="5B6472"/>
                </a:solidFill>
                <a:latin typeface="Georgia"/>
              </a:rPr>
              <a:t>First pass view “</a:t>
            </a:r>
            <a:r>
              <a:rPr lang="en-US" dirty="0">
                <a:solidFill>
                  <a:schemeClr val="accent2"/>
                </a:solidFill>
                <a:latin typeface="Georgia"/>
              </a:rPr>
              <a:t>who can call me, and for what</a:t>
            </a:r>
            <a:r>
              <a:rPr lang="en-US" dirty="0">
                <a:solidFill>
                  <a:srgbClr val="5B6472"/>
                </a:solidFill>
                <a:latin typeface="Georgia"/>
              </a:rPr>
              <a:t>”    VS   second pass view  “</a:t>
            </a:r>
            <a:r>
              <a:rPr lang="en-US" dirty="0">
                <a:solidFill>
                  <a:schemeClr val="accent2"/>
                </a:solidFill>
                <a:latin typeface="Georgia"/>
              </a:rPr>
              <a:t>what can I actually do</a:t>
            </a:r>
            <a:r>
              <a:rPr lang="en-US" dirty="0">
                <a:solidFill>
                  <a:srgbClr val="5B6472"/>
                </a:solidFill>
                <a:latin typeface="Georgia"/>
              </a:rPr>
              <a:t>”</a:t>
            </a:r>
            <a:endParaRPr sz="1600" b="0" i="0" dirty="0">
              <a:solidFill>
                <a:srgbClr val="5B6472"/>
              </a:solidFill>
              <a:latin typeface="Georgia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0292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5895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01498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27101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527048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78308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203911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29514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55117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C3BBC842-9B0D-BA3B-D309-6C9DA5F93656}"/>
              </a:ext>
            </a:extLst>
          </p:cNvPr>
          <p:cNvCxnSpPr>
            <a:cxnSpLocks/>
          </p:cNvCxnSpPr>
          <p:nvPr/>
        </p:nvCxnSpPr>
        <p:spPr>
          <a:xfrm rot="5400000" flipH="1">
            <a:off x="3531870" y="1428750"/>
            <a:ext cx="228600" cy="4594860"/>
          </a:xfrm>
          <a:prstGeom prst="bentConnector3">
            <a:avLst>
              <a:gd name="adj1" fmla="val -215315"/>
            </a:avLst>
          </a:prstGeom>
          <a:ln w="11430">
            <a:solidFill>
              <a:srgbClr val="B7B2A6"/>
            </a:solidFill>
            <a:headEnd type="stealt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4A3037C-C332-A017-C035-A739BC705655}"/>
              </a:ext>
            </a:extLst>
          </p:cNvPr>
          <p:cNvSpPr txBox="1"/>
          <p:nvPr/>
        </p:nvSpPr>
        <p:spPr>
          <a:xfrm>
            <a:off x="658368" y="2888582"/>
            <a:ext cx="1380744" cy="5779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1250" b="1" dirty="0">
                <a:solidFill>
                  <a:srgbClr val="B7B2A6"/>
                </a:solidFill>
                <a:latin typeface="Arial Narrow"/>
              </a:rPr>
              <a:t>IdP (</a:t>
            </a:r>
            <a:r>
              <a:rPr lang="en-US" sz="1250" b="1" dirty="0" err="1">
                <a:solidFill>
                  <a:srgbClr val="B7B2A6"/>
                </a:solidFill>
                <a:latin typeface="Arial Narrow"/>
              </a:rPr>
              <a:t>Keycloak</a:t>
            </a:r>
            <a:r>
              <a:rPr lang="en-US" sz="1250" b="1" dirty="0">
                <a:solidFill>
                  <a:srgbClr val="B7B2A6"/>
                </a:solidFill>
                <a:latin typeface="Arial Narrow"/>
              </a:rPr>
              <a:t>)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b="0" i="0" dirty="0">
                <a:solidFill>
                  <a:srgbClr val="B7B2A6"/>
                </a:solidFill>
                <a:latin typeface="Georgia"/>
              </a:rPr>
              <a:t>I</a:t>
            </a:r>
            <a:r>
              <a:rPr sz="900" b="0" i="0" dirty="0">
                <a:solidFill>
                  <a:srgbClr val="B7B2A6"/>
                </a:solidFill>
                <a:latin typeface="Georgia"/>
              </a:rPr>
              <a:t>dentity</a:t>
            </a:r>
            <a:endParaRPr lang="en-US" sz="900" b="0" i="0" dirty="0">
              <a:solidFill>
                <a:srgbClr val="B7B2A6"/>
              </a:solidFill>
              <a:latin typeface="Georgia"/>
            </a:endParaRP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dirty="0">
                <a:solidFill>
                  <a:srgbClr val="B7B2A6"/>
                </a:solidFill>
                <a:latin typeface="Georgia"/>
              </a:rPr>
              <a:t>roles, scopes, catalog</a:t>
            </a:r>
            <a:endParaRPr lang="en-US" sz="900" dirty="0">
              <a:solidFill>
                <a:srgbClr val="C17F2E"/>
              </a:solidFill>
              <a:latin typeface="Georgia"/>
            </a:endParaRPr>
          </a:p>
        </p:txBody>
      </p:sp>
      <p:cxnSp>
        <p:nvCxnSpPr>
          <p:cNvPr id="45" name="Connector 7">
            <a:extLst>
              <a:ext uri="{FF2B5EF4-FFF2-40B4-BE49-F238E27FC236}">
                <a16:creationId xmlns:a16="http://schemas.microsoft.com/office/drawing/2014/main" id="{4F2463FD-33BC-C458-EF57-5A23F6892361}"/>
              </a:ext>
            </a:extLst>
          </p:cNvPr>
          <p:cNvCxnSpPr>
            <a:cxnSpLocks/>
          </p:cNvCxnSpPr>
          <p:nvPr/>
        </p:nvCxnSpPr>
        <p:spPr>
          <a:xfrm>
            <a:off x="7543799" y="5426964"/>
            <a:ext cx="484633" cy="0"/>
          </a:xfrm>
          <a:prstGeom prst="line">
            <a:avLst/>
          </a:prstGeom>
          <a:ln w="44450">
            <a:solidFill>
              <a:schemeClr val="tx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7">
            <a:extLst>
              <a:ext uri="{FF2B5EF4-FFF2-40B4-BE49-F238E27FC236}">
                <a16:creationId xmlns:a16="http://schemas.microsoft.com/office/drawing/2014/main" id="{753F8C3F-E359-01DF-6CC8-DD7B2CED4240}"/>
              </a:ext>
            </a:extLst>
          </p:cNvPr>
          <p:cNvCxnSpPr>
            <a:cxnSpLocks/>
          </p:cNvCxnSpPr>
          <p:nvPr/>
        </p:nvCxnSpPr>
        <p:spPr>
          <a:xfrm>
            <a:off x="4123944" y="5425440"/>
            <a:ext cx="393192" cy="0"/>
          </a:xfrm>
          <a:prstGeom prst="line">
            <a:avLst/>
          </a:prstGeom>
          <a:ln w="44450">
            <a:solidFill>
              <a:schemeClr val="tx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34440" y="2743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5B6472"/>
                </a:solidFill>
                <a:latin typeface="Arial Narrow"/>
              </a:rPr>
              <a:t>THE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3134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17F2E"/>
                </a:solidFill>
                <a:latin typeface="Consolas"/>
              </a:rPr>
              <a:t>STEP 09 / 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987552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E1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4D7C62"/>
                </a:solidFill>
                <a:latin typeface="Arial Narrow"/>
              </a:rPr>
              <a:t>PHASE 2 — POLICY MAPPING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3177540"/>
            <a:ext cx="18288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0" y="3177540"/>
            <a:ext cx="96012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5432957" y="1874520"/>
            <a:ext cx="250842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499036" y="1874520"/>
            <a:ext cx="536283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812280" y="3048218"/>
            <a:ext cx="640080" cy="54864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812280" y="3101712"/>
            <a:ext cx="3017520" cy="58878"/>
          </a:xfrm>
          <a:prstGeom prst="line">
            <a:avLst/>
          </a:prstGeom>
          <a:ln w="25400">
            <a:solidFill>
              <a:srgbClr val="C17F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8640" y="274320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331720" y="274320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41448" y="283464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Event Broker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durable delivery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2514600"/>
            <a:ext cx="1737360" cy="132588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84648" y="2606040"/>
            <a:ext cx="1517904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4181F"/>
                </a:solidFill>
                <a:latin typeface="Arial Narrow"/>
              </a:rPr>
              <a:t>AIAC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17F2E"/>
                </a:solidFill>
                <a:latin typeface="Georgia"/>
              </a:rPr>
              <a:t>reconciliation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097280"/>
            <a:ext cx="1874519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53128" y="1188720"/>
            <a:ext cx="1655063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Agent card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GitIssueAgent's own skills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097280"/>
            <a:ext cx="1920240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1188720"/>
            <a:ext cx="170078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IssueHandler / AdminIssues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tools report own ops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25146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2606040"/>
            <a:ext cx="1563624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Policy text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knowledge base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265176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39528" y="2743200"/>
            <a:ext cx="138074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4181F"/>
                </a:solidFill>
                <a:latin typeface="Arial Narrow"/>
              </a:rPr>
              <a:t>OPA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17F2E"/>
                </a:solidFill>
                <a:latin typeface="Georgia"/>
              </a:rPr>
              <a:t>live rules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74920"/>
            <a:ext cx="11183112" cy="141732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5074920"/>
            <a:ext cx="38100" cy="1417320"/>
          </a:xfrm>
          <a:prstGeom prst="rect">
            <a:avLst/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239512"/>
            <a:ext cx="10515600" cy="10825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b="1" i="0" dirty="0">
                <a:solidFill>
                  <a:srgbClr val="14181F"/>
                </a:solidFill>
                <a:latin typeface="Arial Narrow"/>
              </a:rPr>
              <a:t>Merge and write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b="0" i="0" dirty="0">
                <a:solidFill>
                  <a:srgbClr val="5B6472"/>
                </a:solidFill>
                <a:latin typeface="Georgia"/>
              </a:rPr>
              <a:t>The new rules are merged into the live rule set — additively, so nothing anyone else already had access to is silently dropped — and pushed to OPA as the current enforceable policy.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5895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1498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27101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527048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78308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03911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229514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55117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9E5F11E-2D4A-A1CF-E3FE-8322BCD2094A}"/>
              </a:ext>
            </a:extLst>
          </p:cNvPr>
          <p:cNvSpPr txBox="1"/>
          <p:nvPr/>
        </p:nvSpPr>
        <p:spPr>
          <a:xfrm>
            <a:off x="658368" y="2888582"/>
            <a:ext cx="1380744" cy="5779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1250" b="1" dirty="0">
                <a:solidFill>
                  <a:srgbClr val="B7B2A6"/>
                </a:solidFill>
                <a:latin typeface="Arial Narrow"/>
              </a:rPr>
              <a:t>IdP (</a:t>
            </a:r>
            <a:r>
              <a:rPr lang="en-US" sz="1250" b="1" dirty="0" err="1">
                <a:solidFill>
                  <a:srgbClr val="B7B2A6"/>
                </a:solidFill>
                <a:latin typeface="Arial Narrow"/>
              </a:rPr>
              <a:t>Keycloak</a:t>
            </a:r>
            <a:r>
              <a:rPr lang="en-US" sz="1250" b="1" dirty="0">
                <a:solidFill>
                  <a:srgbClr val="B7B2A6"/>
                </a:solidFill>
                <a:latin typeface="Arial Narrow"/>
              </a:rPr>
              <a:t>)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b="0" i="0" dirty="0">
                <a:solidFill>
                  <a:srgbClr val="B7B2A6"/>
                </a:solidFill>
                <a:latin typeface="Georgia"/>
              </a:rPr>
              <a:t>I</a:t>
            </a:r>
            <a:r>
              <a:rPr sz="900" b="0" i="0" dirty="0">
                <a:solidFill>
                  <a:srgbClr val="B7B2A6"/>
                </a:solidFill>
                <a:latin typeface="Georgia"/>
              </a:rPr>
              <a:t>dentity</a:t>
            </a:r>
            <a:endParaRPr lang="en-US" sz="900" b="0" i="0" dirty="0">
              <a:solidFill>
                <a:srgbClr val="B7B2A6"/>
              </a:solidFill>
              <a:latin typeface="Georgia"/>
            </a:endParaRP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dirty="0">
                <a:solidFill>
                  <a:srgbClr val="B7B2A6"/>
                </a:solidFill>
                <a:latin typeface="Georgia"/>
              </a:rPr>
              <a:t>roles, scopes, catalog</a:t>
            </a:r>
            <a:endParaRPr lang="en-US" sz="900" dirty="0">
              <a:solidFill>
                <a:srgbClr val="C17F2E"/>
              </a:solidFill>
              <a:latin typeface="Georgia"/>
            </a:endParaRPr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192C7360-6B53-C7E6-F6E9-ADA616B88331}"/>
              </a:ext>
            </a:extLst>
          </p:cNvPr>
          <p:cNvCxnSpPr>
            <a:cxnSpLocks/>
          </p:cNvCxnSpPr>
          <p:nvPr/>
        </p:nvCxnSpPr>
        <p:spPr>
          <a:xfrm rot="5400000" flipH="1">
            <a:off x="3531870" y="1428750"/>
            <a:ext cx="228600" cy="4594860"/>
          </a:xfrm>
          <a:prstGeom prst="bentConnector3">
            <a:avLst>
              <a:gd name="adj1" fmla="val -215315"/>
            </a:avLst>
          </a:prstGeom>
          <a:ln w="11430">
            <a:solidFill>
              <a:srgbClr val="B7B2A6"/>
            </a:solidFill>
            <a:headEnd type="stealt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17320" y="320040"/>
            <a:ext cx="9875520" cy="648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 dirty="0">
                <a:solidFill>
                  <a:srgbClr val="5B6472"/>
                </a:solidFill>
                <a:latin typeface="Arial Narrow"/>
              </a:rPr>
              <a:t>THE WALKTHROUGH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lang="en-US" sz="2700" b="1" i="0" dirty="0">
                <a:solidFill>
                  <a:srgbClr val="14181F"/>
                </a:solidFill>
                <a:latin typeface="Arial Narrow"/>
              </a:rPr>
              <a:t>Notes</a:t>
            </a:r>
            <a:endParaRPr sz="2700" b="1" i="0" dirty="0">
              <a:solidFill>
                <a:srgbClr val="14181F"/>
              </a:solidFill>
              <a:latin typeface="Arial Narrow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643896"/>
            <a:ext cx="11091672" cy="46663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 algn="l">
              <a:lnSpc>
                <a:spcPct val="140000"/>
              </a:lnSpc>
              <a:spcAft>
                <a:spcPts val="2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F3A"/>
                </a:solidFill>
                <a:latin typeface="Georgia" panose="02040502050405020303" pitchFamily="18" charset="0"/>
              </a:rPr>
              <a:t>Only interactions with the newly onboarded agent are analyzed and updated  i.e. there is </a:t>
            </a:r>
            <a:r>
              <a:rPr lang="en-US" sz="2800" b="1" dirty="0">
                <a:solidFill>
                  <a:schemeClr val="accent2"/>
                </a:solidFill>
                <a:latin typeface="Georgia" panose="02040502050405020303" pitchFamily="18" charset="0"/>
              </a:rPr>
              <a:t>no full system ‘reset’ </a:t>
            </a:r>
          </a:p>
          <a:p>
            <a:pPr marL="342900" indent="-342900" algn="l">
              <a:lnSpc>
                <a:spcPct val="140000"/>
              </a:lnSpc>
              <a:spcAft>
                <a:spcPts val="2200"/>
              </a:spcAft>
              <a:buFont typeface="Arial" panose="020B0604020202020204" pitchFamily="34" charset="0"/>
              <a:buChar char="•"/>
            </a:pPr>
            <a:r>
              <a:rPr lang="en-IL" sz="2400" dirty="0">
                <a:solidFill>
                  <a:srgbClr val="2A2F3A"/>
                </a:solidFill>
                <a:latin typeface="Georgia" panose="02040502050405020303" pitchFamily="18" charset="0"/>
              </a:rPr>
              <a:t>The GitIssueAgent new role/scopes mappings </a:t>
            </a:r>
            <a:r>
              <a:rPr lang="en-IL" sz="2800" b="1" dirty="0">
                <a:solidFill>
                  <a:schemeClr val="accent2"/>
                </a:solidFill>
                <a:latin typeface="Georgia" panose="02040502050405020303" pitchFamily="18" charset="0"/>
              </a:rPr>
              <a:t> are in fact the access control rules</a:t>
            </a:r>
            <a:endParaRPr lang="en-IL" sz="2400" b="1" dirty="0">
              <a:solidFill>
                <a:schemeClr val="accent2"/>
              </a:solidFill>
              <a:latin typeface="Georgia" panose="02040502050405020303" pitchFamily="18" charset="0"/>
            </a:endParaRPr>
          </a:p>
          <a:p>
            <a:pPr marL="342900" indent="-342900" algn="l">
              <a:lnSpc>
                <a:spcPct val="140000"/>
              </a:lnSpc>
              <a:spcAft>
                <a:spcPts val="2200"/>
              </a:spcAft>
              <a:buFont typeface="Arial" panose="020B0604020202020204" pitchFamily="34" charset="0"/>
              <a:buChar char="•"/>
            </a:pPr>
            <a:r>
              <a:rPr sz="2400" i="1" dirty="0" err="1">
                <a:solidFill>
                  <a:srgbClr val="C17F2E"/>
                </a:solidFill>
                <a:latin typeface="Georgia" panose="02040502050405020303" pitchFamily="18" charset="0"/>
              </a:rPr>
              <a:t>deleteIssue</a:t>
            </a:r>
            <a:r>
              <a:rPr sz="2400" i="1" dirty="0">
                <a:solidFill>
                  <a:srgbClr val="C17F2E"/>
                </a:solidFill>
                <a:latin typeface="Georgia" panose="02040502050405020303" pitchFamily="18" charset="0"/>
              </a:rPr>
              <a:t> never got a role</a:t>
            </a:r>
            <a:r>
              <a:rPr sz="2400" b="1" i="0" dirty="0">
                <a:solidFill>
                  <a:srgbClr val="C17F2E"/>
                </a:solidFill>
                <a:latin typeface="Georgia" panose="02040502050405020303" pitchFamily="18" charset="0"/>
              </a:rPr>
              <a:t>.  </a:t>
            </a:r>
            <a:r>
              <a:rPr sz="2400" dirty="0">
                <a:solidFill>
                  <a:srgbClr val="2A2F3A"/>
                </a:solidFill>
                <a:latin typeface="Georgia" panose="02040502050405020303" pitchFamily="18" charset="0"/>
              </a:rPr>
              <a:t>The policy never mentions deletion,</a:t>
            </a:r>
            <a:r>
              <a:rPr lang="en-US" sz="2400" dirty="0">
                <a:solidFill>
                  <a:srgbClr val="2A2F3A"/>
                </a:solidFill>
                <a:latin typeface="Georgia" panose="02040502050405020303" pitchFamily="18" charset="0"/>
              </a:rPr>
              <a:t> d</a:t>
            </a:r>
            <a:r>
              <a:rPr lang="en-IL" sz="2400" dirty="0">
                <a:solidFill>
                  <a:srgbClr val="2A2F3A"/>
                </a:solidFill>
                <a:latin typeface="Georgia" panose="02040502050405020303" pitchFamily="18" charset="0"/>
              </a:rPr>
              <a:t>efault is least privilege so no mapping will be created – i.e. always deny </a:t>
            </a:r>
          </a:p>
          <a:p>
            <a:pPr marL="342900" indent="-342900" algn="l">
              <a:lnSpc>
                <a:spcPct val="140000"/>
              </a:lnSpc>
              <a:spcAft>
                <a:spcPts val="2200"/>
              </a:spcAft>
              <a:buFont typeface="Arial" panose="020B0604020202020204" pitchFamily="34" charset="0"/>
              <a:buChar char="•"/>
            </a:pPr>
            <a:r>
              <a:rPr lang="en-IL" sz="2400" dirty="0">
                <a:solidFill>
                  <a:srgbClr val="2A2F3A"/>
                </a:solidFill>
                <a:latin typeface="Georgia" panose="02040502050405020303" pitchFamily="18" charset="0"/>
              </a:rPr>
              <a:t>similarly for </a:t>
            </a:r>
            <a:r>
              <a:rPr sz="2400" i="1" dirty="0" err="1">
                <a:solidFill>
                  <a:srgbClr val="C17F2E"/>
                </a:solidFill>
                <a:latin typeface="Georgia" panose="02040502050405020303" pitchFamily="18" charset="0"/>
              </a:rPr>
              <a:t>WeatherAgent</a:t>
            </a:r>
            <a:r>
              <a:rPr sz="2400" i="1" dirty="0">
                <a:solidFill>
                  <a:srgbClr val="C17F2E"/>
                </a:solidFill>
                <a:latin typeface="Georgia" panose="02040502050405020303" pitchFamily="18" charset="0"/>
              </a:rPr>
              <a:t> and </a:t>
            </a:r>
            <a:r>
              <a:rPr sz="2400" i="1" dirty="0" err="1">
                <a:solidFill>
                  <a:srgbClr val="C17F2E"/>
                </a:solidFill>
                <a:latin typeface="Georgia" panose="02040502050405020303" pitchFamily="18" charset="0"/>
              </a:rPr>
              <a:t>WeatherTool</a:t>
            </a:r>
            <a:r>
              <a:rPr sz="2400" i="1" dirty="0">
                <a:solidFill>
                  <a:srgbClr val="C17F2E"/>
                </a:solidFill>
                <a:latin typeface="Georgia" panose="02040502050405020303" pitchFamily="18" charset="0"/>
              </a:rPr>
              <a:t> </a:t>
            </a:r>
            <a:r>
              <a:rPr lang="en-US" sz="2400" b="1" dirty="0">
                <a:solidFill>
                  <a:srgbClr val="C17F2E"/>
                </a:solidFill>
                <a:latin typeface="Georgia" panose="02040502050405020303" pitchFamily="18" charset="0"/>
              </a:rPr>
              <a:t>, </a:t>
            </a:r>
            <a:r>
              <a:rPr lang="en-IL" sz="2400" dirty="0">
                <a:solidFill>
                  <a:srgbClr val="2A2F3A"/>
                </a:solidFill>
                <a:latin typeface="Georgia" panose="02040502050405020303" pitchFamily="18" charset="0"/>
              </a:rPr>
              <a:t>– i.e. no change in exisitng rules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B30757-9973-9AFC-2272-00CD10188195}"/>
              </a:ext>
            </a:extLst>
          </p:cNvPr>
          <p:cNvSpPr txBox="1"/>
          <p:nvPr/>
        </p:nvSpPr>
        <p:spPr>
          <a:xfrm>
            <a:off x="4419066" y="137552"/>
            <a:ext cx="33538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2400" dirty="0"/>
              <a:t>Entitlement review demo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B7EE1D-B6EB-8E89-8CE5-5CF3D4AD89C7}"/>
              </a:ext>
            </a:extLst>
          </p:cNvPr>
          <p:cNvSpPr txBox="1"/>
          <p:nvPr/>
        </p:nvSpPr>
        <p:spPr>
          <a:xfrm>
            <a:off x="5701499" y="3244334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>
                <a:hlinkClick r:id="rId2"/>
              </a:rPr>
              <a:t>DEMO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129085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17320" y="320040"/>
            <a:ext cx="9875520" cy="618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 dirty="0">
                <a:solidFill>
                  <a:srgbClr val="5B6472"/>
                </a:solidFill>
                <a:latin typeface="Arial Narrow"/>
              </a:rPr>
              <a:t>PROCESS EVALUATION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lang="en-US" sz="2500" b="1" i="0" dirty="0">
                <a:solidFill>
                  <a:srgbClr val="14181F"/>
                </a:solidFill>
                <a:latin typeface="Arial Narrow"/>
              </a:rPr>
              <a:t>Eval</a:t>
            </a:r>
            <a:r>
              <a:rPr sz="2500" b="1" i="0" dirty="0">
                <a:solidFill>
                  <a:srgbClr val="14181F"/>
                </a:solidFill>
                <a:latin typeface="Arial Narrow"/>
              </a:rPr>
              <a:t> correctness, robustness, and consistency </a:t>
            </a:r>
            <a:r>
              <a:rPr lang="en-US" sz="2500" b="1" dirty="0">
                <a:solidFill>
                  <a:srgbClr val="14181F"/>
                </a:solidFill>
                <a:latin typeface="Arial Narrow"/>
              </a:rPr>
              <a:t>…</a:t>
            </a:r>
            <a:endParaRPr sz="2500" b="1" i="0" dirty="0">
              <a:solidFill>
                <a:srgbClr val="14181F"/>
              </a:solidFill>
              <a:latin typeface="Arial Narrow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857631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022223"/>
            <a:ext cx="4892040" cy="5781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 i="0" dirty="0">
                <a:solidFill>
                  <a:srgbClr val="C17F2E"/>
                </a:solidFill>
                <a:latin typeface="Consolas"/>
              </a:rPr>
              <a:t>CORRECTNESS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161F36"/>
                </a:solidFill>
              </a:rPr>
              <a:t>compliance with the policy</a:t>
            </a:r>
            <a:endParaRPr lang="en-US" sz="1400" dirty="0">
              <a:solidFill>
                <a:srgbClr val="1F2937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26480" y="1857631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930782"/>
            <a:ext cx="4892040" cy="1308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 b="1" dirty="0">
                <a:solidFill>
                  <a:srgbClr val="C17F2E"/>
                </a:solidFill>
                <a:latin typeface="Consolas"/>
              </a:rPr>
              <a:t>ROBUSTNESS</a:t>
            </a:r>
            <a:r>
              <a:rPr lang="en-US" sz="1400" b="1" dirty="0">
                <a:solidFill>
                  <a:srgbClr val="C17F2E"/>
                </a:solidFill>
                <a:latin typeface="Consolas"/>
              </a:rPr>
              <a:t> (Adversarial)</a:t>
            </a:r>
            <a:endParaRPr sz="1400" b="1" dirty="0">
              <a:solidFill>
                <a:srgbClr val="C17F2E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161F36"/>
                </a:solidFill>
              </a:rPr>
              <a:t>small change (e.g. syntactic or use of synonym) in policy doesn’t affect the result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161F36"/>
                </a:solidFill>
              </a:rPr>
              <a:t>scoped change (e.g. role change) in policy also result in scoped change in generated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57831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622423"/>
            <a:ext cx="4892040" cy="8043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400" b="1" dirty="0">
                <a:solidFill>
                  <a:srgbClr val="C17F2E"/>
                </a:solidFill>
                <a:latin typeface="Consolas"/>
              </a:rPr>
              <a:t>SCALE</a:t>
            </a:r>
            <a:endParaRPr sz="1400" b="1" dirty="0">
              <a:solidFill>
                <a:srgbClr val="C17F2E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1F2937"/>
                </a:solidFill>
              </a:rPr>
              <a:t>Validate the AIAC is able to handle large systems e.g. large number of agents, large number of entitlements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457831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3622423"/>
            <a:ext cx="4892040" cy="8556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400" b="1" dirty="0">
                <a:solidFill>
                  <a:srgbClr val="C17F2E"/>
                </a:solidFill>
                <a:latin typeface="Consolas"/>
              </a:rPr>
              <a:t>DETERMINISM/CONSISTENCY</a:t>
            </a:r>
            <a:endParaRPr sz="1400" b="1" dirty="0">
              <a:solidFill>
                <a:srgbClr val="C17F2E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1F2937"/>
                </a:solidFill>
              </a:rPr>
              <a:t>Reproduces identical results across repeated runs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lang="en-IL" sz="1400" b="1" dirty="0">
                <a:solidFill>
                  <a:srgbClr val="1F2937"/>
                </a:solidFill>
              </a:rPr>
              <a:t>Apply the same considerations to similar statements in policies</a:t>
            </a:r>
            <a:endParaRPr lang="en-US" sz="1400" b="1" dirty="0">
              <a:solidFill>
                <a:srgbClr val="1F2937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5577840"/>
            <a:ext cx="10881360" cy="100584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270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687568"/>
            <a:ext cx="10424160" cy="4072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lang="en-US" sz="950" b="1" i="0" dirty="0">
                <a:solidFill>
                  <a:srgbClr val="C17F2E"/>
                </a:solidFill>
                <a:latin typeface="Consolas"/>
              </a:rPr>
              <a:t>Where and when</a:t>
            </a:r>
            <a:endParaRPr sz="950" b="1" i="0" dirty="0">
              <a:solidFill>
                <a:srgbClr val="C17F2E"/>
              </a:solidFill>
              <a:latin typeface="Consolas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lang="en-US" sz="1150" dirty="0">
                <a:solidFill>
                  <a:srgbClr val="2A2F3A"/>
                </a:solidFill>
                <a:latin typeface="Georgia"/>
              </a:rPr>
              <a:t>Quality checks are placed </a:t>
            </a:r>
            <a:r>
              <a:rPr lang="en-US" sz="1150" b="0" i="0" dirty="0">
                <a:solidFill>
                  <a:srgbClr val="2A2F3A"/>
                </a:solidFill>
                <a:latin typeface="Georgia"/>
              </a:rPr>
              <a:t>in multiple stages e.g. runtime guardrails , HIL gates, LLM as judges, testing and benchmarking</a:t>
            </a:r>
            <a:endParaRPr sz="1150" b="0" i="0" dirty="0">
              <a:solidFill>
                <a:srgbClr val="2A2F3A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431D32-11A1-2F54-9C35-D2D56D37CC69}"/>
              </a:ext>
            </a:extLst>
          </p:cNvPr>
          <p:cNvSpPr txBox="1"/>
          <p:nvPr/>
        </p:nvSpPr>
        <p:spPr>
          <a:xfrm>
            <a:off x="5329604" y="3152001"/>
            <a:ext cx="153279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3000" b="1" dirty="0">
                <a:solidFill>
                  <a:srgbClr val="14181F"/>
                </a:solidFill>
                <a:latin typeface="Arial Narrow"/>
              </a:rPr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16168695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17320" y="320040"/>
            <a:ext cx="98755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 dirty="0">
                <a:solidFill>
                  <a:srgbClr val="5B6472"/>
                </a:solidFill>
                <a:latin typeface="Arial Narrow"/>
              </a:rPr>
              <a:t>WHERE THIS FITS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 i="0" dirty="0">
                <a:solidFill>
                  <a:srgbClr val="14181F"/>
                </a:solidFill>
                <a:latin typeface="Arial Narrow"/>
              </a:rPr>
              <a:t>AIAC's only input is a policy document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011680"/>
            <a:ext cx="98755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2A2F3A"/>
                </a:solidFill>
                <a:latin typeface="Georgia"/>
              </a:rPr>
              <a:t>Whether the governing policy was written by a security lead directly, or produced further upstream by whatever process an organization already uses to turn governance requirements into concrete statements — AIAC's job starts at the same place: a document lands in the knowledge base, and every agent, tool, and role already in the system gets checked against it, continuously, without anyone opening OPA by hand.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480560"/>
            <a:ext cx="9875520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66344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1">
                <a:solidFill>
                  <a:srgbClr val="C17F2E"/>
                </a:solidFill>
                <a:latin typeface="Georgia"/>
              </a:rPr>
              <a:t>That's the whole seam. Upstream decides what the policy should say. AIAC makes sure the system never stops matching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17320" y="320040"/>
            <a:ext cx="98755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>
                <a:solidFill>
                  <a:srgbClr val="5B6472"/>
                </a:solidFill>
                <a:latin typeface="Arial Narrow"/>
              </a:rPr>
              <a:t>WHAT HAPPENS NEXT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500" b="1" i="0">
                <a:solidFill>
                  <a:srgbClr val="14181F"/>
                </a:solidFill>
                <a:latin typeface="Arial Narrow"/>
              </a:rPr>
              <a:t>The org chart changes. Does anyone remember to update this?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6916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2A2F3A"/>
                </a:solidFill>
                <a:latin typeface="Georgia"/>
              </a:rPr>
              <a:t>Onboarding is day one. The harder claim is what happens on day ninety, when a role changes and nobody thinks to touch OPA — shown as two directions together, because a system that only ever adds access is just as suspect as one that never updates at 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06040"/>
            <a:ext cx="5349240" cy="2651760"/>
          </a:xfrm>
          <a:prstGeom prst="roundRect">
            <a:avLst>
              <a:gd name="adj" fmla="val 6000"/>
            </a:avLst>
          </a:prstGeom>
          <a:solidFill>
            <a:srgbClr val="E1EBE5"/>
          </a:solidFill>
          <a:ln w="15875">
            <a:solidFill>
              <a:srgbClr val="4D7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834640"/>
            <a:ext cx="48920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4D7C62"/>
                </a:solidFill>
                <a:latin typeface="Arial Narrow"/>
              </a:rPr>
              <a:t>+  A ROLE IS ADDED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0" i="0">
                <a:solidFill>
                  <a:srgbClr val="2A2F3A"/>
                </a:solidFill>
                <a:latin typeface="Georgia"/>
              </a:rPr>
              <a:t>A new Lead role is created — granted everything Tester has, plus deleteIssue.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0" i="0">
                <a:solidFill>
                  <a:srgbClr val="5B6472"/>
                </a:solidFill>
                <a:latin typeface="Georgia"/>
              </a:rPr>
              <a:t>AIAC picks up the new role the same way it picked up Developer and Tester at onboarding — no special case for “this role is new.”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75488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1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C17F2E"/>
                </a:solidFill>
                <a:latin typeface="Consolas"/>
              </a:rPr>
              <a:t>Lead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4754880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0">
                <a:solidFill>
                  <a:srgbClr val="2A2F3A"/>
                </a:solidFill>
                <a:latin typeface="Consolas"/>
              </a:rPr>
              <a:t>read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475488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0">
                <a:solidFill>
                  <a:srgbClr val="2A2F3A"/>
                </a:solidFill>
                <a:latin typeface="Consolas"/>
              </a:rPr>
              <a:t>update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81528" y="4754880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0">
                <a:solidFill>
                  <a:srgbClr val="2A2F3A"/>
                </a:solidFill>
                <a:latin typeface="Consolas"/>
              </a:rPr>
              <a:t>open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48456" y="4754880"/>
            <a:ext cx="557784" cy="292608"/>
          </a:xfrm>
          <a:prstGeom prst="roundRect">
            <a:avLst>
              <a:gd name="adj" fmla="val 50000"/>
            </a:avLst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0">
                <a:solidFill>
                  <a:srgbClr val="2A2F3A"/>
                </a:solidFill>
                <a:latin typeface="Consolas"/>
              </a:rPr>
              <a:t>close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75488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0">
                <a:solidFill>
                  <a:srgbClr val="2A2F3A"/>
                </a:solidFill>
                <a:latin typeface="Consolas"/>
              </a:rPr>
              <a:t>delete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606040"/>
            <a:ext cx="5349240" cy="2651760"/>
          </a:xfrm>
          <a:prstGeom prst="roundRect">
            <a:avLst>
              <a:gd name="adj" fmla="val 6000"/>
            </a:avLst>
          </a:prstGeom>
          <a:solidFill>
            <a:srgbClr val="F3E2DD"/>
          </a:solidFill>
          <a:ln w="15875">
            <a:solidFill>
              <a:srgbClr val="A6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2834640"/>
            <a:ext cx="48920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A6503F"/>
                </a:solidFill>
                <a:latin typeface="Arial Narrow"/>
              </a:rPr>
              <a:t>−  A ROLE IS NARROWED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0" i="0">
                <a:solidFill>
                  <a:srgbClr val="2A2F3A"/>
                </a:solidFill>
                <a:latin typeface="Georgia"/>
              </a:rPr>
              <a:t>The policy is revised: Testers may open issues but no longer close them without a Lead's sign-off.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0" i="0">
                <a:solidFill>
                  <a:srgbClr val="5B6472"/>
                </a:solidFill>
                <a:latin typeface="Georgia"/>
              </a:rPr>
              <a:t>AIAC detects the narrowed entitlement and revokes the scope from the live rule set — the direction that's easy to get wrong if a system only ever appends.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475488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1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C17F2E"/>
                </a:solidFill>
                <a:latin typeface="Consolas"/>
              </a:rPr>
              <a:t>Tester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0" y="475488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3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A6503F"/>
                </a:solidFill>
                <a:latin typeface="Consolas"/>
              </a:rPr>
              <a:t>closeIssue → revoked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86400"/>
            <a:ext cx="27940" cy="548640"/>
          </a:xfrm>
          <a:prstGeom prst="rect">
            <a:avLst/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54864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Georgia"/>
              </a:rPr>
              <a:t>Both changes reach OPA through the same mechanism that ran during onboarding — no separate “update path” to keep in sync with the “create path.”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17320" y="320040"/>
            <a:ext cx="98755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>
                <a:solidFill>
                  <a:srgbClr val="5B6472"/>
                </a:solidFill>
                <a:latin typeface="Arial Narrow"/>
              </a:rPr>
              <a:t>WHY THIS ISN'T TRIVIAL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14181F"/>
                </a:solidFill>
                <a:latin typeface="Arial Narrow"/>
              </a:rPr>
              <a:t>The hard part was never “call an LLM”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82880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C17F2E"/>
                </a:solidFill>
                <a:latin typeface="Arial Narrow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00" b="1" i="0">
                <a:solidFill>
                  <a:srgbClr val="14181F"/>
                </a:solidFill>
                <a:latin typeface="Arial Narrow"/>
              </a:rPr>
              <a:t>An LLM is deciding who gets access, not drafting a paragraph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5B6472"/>
                </a:solidFill>
                <a:latin typeface="Georgia"/>
              </a:rPr>
              <a:t>The output of the policy-matching step is a security decision. A wrong grant is a real entitlement, not a typo.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06040"/>
            <a:ext cx="11064240" cy="0"/>
          </a:xfrm>
          <a:prstGeom prst="line">
            <a:avLst/>
          </a:prstGeom>
          <a:ln w="9525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74320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C17F2E"/>
                </a:solidFill>
                <a:latin typeface="Arial Narrow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9748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00" b="1" i="0">
                <a:solidFill>
                  <a:srgbClr val="14181F"/>
                </a:solidFill>
                <a:latin typeface="Arial Narrow"/>
              </a:rPr>
              <a:t>Adding access must never silently remove someone else's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5B6472"/>
                </a:solidFill>
                <a:latin typeface="Georgia"/>
              </a:rPr>
              <a:t>Onboarding one new agent has to leave every existing grant untouched, across every possible ordering of events.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520440"/>
            <a:ext cx="11064240" cy="0"/>
          </a:xfrm>
          <a:prstGeom prst="line">
            <a:avLst/>
          </a:prstGeom>
          <a:ln w="9525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65760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C17F2E"/>
                </a:solidFill>
                <a:latin typeface="Arial Narrow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1188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00" b="1" i="0">
                <a:solidFill>
                  <a:srgbClr val="14181F"/>
                </a:solidFill>
                <a:latin typeface="Arial Narrow"/>
              </a:rPr>
              <a:t>The system underneath is moving while you're computing the answer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5B6472"/>
                </a:solidFill>
                <a:latin typeface="Georgia"/>
              </a:rPr>
              <a:t>Roles, services, and scopes can change mid-reconciliation. The result has to stay correct even against a stale catalog.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4434840"/>
            <a:ext cx="11064240" cy="0"/>
          </a:xfrm>
          <a:prstGeom prst="line">
            <a:avLst/>
          </a:prstGeom>
          <a:ln w="9525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457200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C17F2E"/>
                </a:solidFill>
                <a:latin typeface="Arial Narrow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52628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00" b="1" i="0">
                <a:solidFill>
                  <a:srgbClr val="14181F"/>
                </a:solidFill>
                <a:latin typeface="Arial Narrow"/>
              </a:rPr>
              <a:t>Removing access is a distinct code path from granting it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5B6472"/>
                </a:solidFill>
                <a:latin typeface="Georgia"/>
              </a:rPr>
              <a:t>A purely additive engine is trivial and also wrong. Pruning exactly the right edge is the harder half of the problem.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5349240"/>
            <a:ext cx="11064240" cy="0"/>
          </a:xfrm>
          <a:prstGeom prst="line">
            <a:avLst/>
          </a:prstGeom>
          <a:ln w="9525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548640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C17F2E"/>
                </a:solidFill>
                <a:latin typeface="Arial Narrow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44068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00" b="1" i="0">
                <a:solidFill>
                  <a:srgbClr val="14181F"/>
                </a:solidFill>
                <a:latin typeface="Arial Narrow"/>
              </a:rPr>
              <a:t>The same conclusion has to be reachable no matter how you got there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5B6472"/>
                </a:solidFill>
                <a:latin typeface="Georgia"/>
              </a:rPr>
              <a:t>Whichever order services onboard in, the resulting entitlements have to converge — a property you test for, not assume.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680436"/>
            <a:ext cx="9875520" cy="448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lang="en-US" sz="3000" b="1" i="0" dirty="0">
                <a:solidFill>
                  <a:srgbClr val="14181F"/>
                </a:solidFill>
                <a:latin typeface="Arial Narrow"/>
              </a:rPr>
              <a:t>P</a:t>
            </a:r>
            <a:r>
              <a:rPr sz="3000" b="1" i="0" dirty="0">
                <a:solidFill>
                  <a:srgbClr val="14181F"/>
                </a:solidFill>
                <a:latin typeface="Arial Narrow"/>
              </a:rPr>
              <a:t>olicy-management layer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493192"/>
            <a:ext cx="10515600" cy="2875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A2F3A"/>
                </a:solidFill>
                <a:latin typeface="Georgia"/>
              </a:rPr>
              <a:t>AIAC separates policy into three independent layers that can be audited on its own.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14600"/>
            <a:ext cx="10543032" cy="934720"/>
          </a:xfrm>
          <a:prstGeom prst="rect">
            <a:avLst/>
          </a:prstGeom>
          <a:solidFill>
            <a:srgbClr val="F1E3CD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624328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4181F"/>
                </a:solidFill>
                <a:latin typeface="Arial Narrow"/>
              </a:rPr>
              <a:t>Policy Management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5B6472"/>
                </a:solidFill>
                <a:latin typeface="Arial Narrow"/>
              </a:rPr>
              <a:t>KEEPS RULES CURRENT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770632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C17F2E"/>
                </a:solidFill>
                <a:latin typeface="Consolas"/>
              </a:rPr>
              <a:t>AIAC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2679192"/>
            <a:ext cx="54864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 dirty="0">
                <a:solidFill>
                  <a:srgbClr val="2A2F3A"/>
                </a:solidFill>
                <a:latin typeface="Georgia"/>
              </a:rPr>
              <a:t>Watches the system for change, works out what the rules should now say, writes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474720"/>
            <a:ext cx="10543032" cy="934720"/>
          </a:xfrm>
          <a:prstGeom prst="rect">
            <a:avLst/>
          </a:prstGeom>
          <a:solidFill>
            <a:srgbClr val="FCFBF8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584448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4181F"/>
                </a:solidFill>
                <a:latin typeface="Arial Narrow"/>
              </a:rPr>
              <a:t>Policy Decision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5B6472"/>
                </a:solidFill>
                <a:latin typeface="Arial Narrow"/>
              </a:rPr>
              <a:t>DECIDES EACH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730752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C17F2E"/>
                </a:solidFill>
                <a:latin typeface="Consolas"/>
              </a:rPr>
              <a:t>OPA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3639312"/>
            <a:ext cx="54864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A2F3A"/>
                </a:solidFill>
                <a:latin typeface="Georgia"/>
              </a:rPr>
              <a:t>Evaluates the caller's role against the current rules at request time. Owns the actual grant/deny.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434840"/>
            <a:ext cx="10543032" cy="934720"/>
          </a:xfrm>
          <a:prstGeom prst="rect">
            <a:avLst/>
          </a:prstGeom>
          <a:solidFill>
            <a:srgbClr val="FCFBF8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544568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4181F"/>
                </a:solidFill>
                <a:latin typeface="Arial Narrow"/>
              </a:rPr>
              <a:t>Policy Enforcement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5B6472"/>
                </a:solidFill>
                <a:latin typeface="Arial Narrow"/>
              </a:rPr>
              <a:t>MOVES THE TRAFFIC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690872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C17F2E"/>
                </a:solidFill>
                <a:latin typeface="Consolas"/>
              </a:rPr>
              <a:t>Gateway / sidecar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4599432"/>
            <a:ext cx="54864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A2F3A"/>
                </a:solidFill>
                <a:latin typeface="Georgia"/>
              </a:rPr>
              <a:t>Intercepts the call, exchanges the token. Carries no policy knowledge of its own.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532120"/>
            <a:ext cx="27940" cy="822960"/>
          </a:xfrm>
          <a:prstGeom prst="rect">
            <a:avLst/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5532120"/>
            <a:ext cx="10881360" cy="4242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00" b="1" i="0" dirty="0">
                <a:solidFill>
                  <a:srgbClr val="5B6472"/>
                </a:solidFill>
                <a:latin typeface="Consolas"/>
              </a:rPr>
              <a:t>AIAC</a:t>
            </a:r>
            <a:r>
              <a:rPr sz="1000" b="1" i="0" dirty="0">
                <a:solidFill>
                  <a:srgbClr val="5B6472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5B6472"/>
                </a:solidFill>
                <a:latin typeface="Consolas"/>
              </a:rPr>
              <a:t>IS</a:t>
            </a:r>
            <a:r>
              <a:rPr sz="1000" b="1" i="0" dirty="0">
                <a:solidFill>
                  <a:srgbClr val="5B6472"/>
                </a:solidFill>
                <a:latin typeface="Consolas"/>
              </a:rPr>
              <a:t> </a:t>
            </a:r>
            <a:r>
              <a:rPr lang="en-US" sz="1000" b="1" i="0" dirty="0">
                <a:solidFill>
                  <a:srgbClr val="5B6472"/>
                </a:solidFill>
                <a:latin typeface="Consolas"/>
              </a:rPr>
              <a:t>A </a:t>
            </a:r>
            <a:r>
              <a:rPr sz="1000" b="1" i="0" dirty="0">
                <a:solidFill>
                  <a:srgbClr val="5B6472"/>
                </a:solidFill>
                <a:latin typeface="Consolas"/>
              </a:rPr>
              <a:t>SEPARATE</a:t>
            </a:r>
            <a:r>
              <a:rPr lang="en-US" sz="1000" b="1" i="0" dirty="0">
                <a:solidFill>
                  <a:srgbClr val="5B6472"/>
                </a:solidFill>
                <a:latin typeface="Consolas"/>
              </a:rPr>
              <a:t>D COMPONENT THAT IMPLEMENT THE ACCESS CONTROL POLICY and COMMUNICATE with the </a:t>
            </a:r>
            <a:r>
              <a:rPr sz="1250" b="0" i="0" dirty="0">
                <a:solidFill>
                  <a:srgbClr val="5B6472"/>
                </a:solidFill>
                <a:latin typeface="Georgia"/>
              </a:rPr>
              <a:t>enforcement layer</a:t>
            </a:r>
            <a:r>
              <a:rPr lang="en-US" sz="1250" b="0" i="0" dirty="0">
                <a:solidFill>
                  <a:srgbClr val="5B6472"/>
                </a:solidFill>
                <a:latin typeface="Georgia"/>
              </a:rPr>
              <a:t> via AGREED API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50" dirty="0">
                <a:solidFill>
                  <a:srgbClr val="5B6472"/>
                </a:solidFill>
                <a:latin typeface="Georgia"/>
              </a:rPr>
              <a:t>R</a:t>
            </a:r>
            <a:r>
              <a:rPr sz="1250" b="0" i="0" dirty="0">
                <a:solidFill>
                  <a:srgbClr val="5B6472"/>
                </a:solidFill>
                <a:latin typeface="Georgia"/>
              </a:rPr>
              <a:t>ule change</a:t>
            </a:r>
            <a:r>
              <a:rPr lang="en-US" sz="1250" b="0" i="0" dirty="0">
                <a:solidFill>
                  <a:srgbClr val="5B6472"/>
                </a:solidFill>
                <a:latin typeface="Georgia"/>
              </a:rPr>
              <a:t> does not </a:t>
            </a:r>
            <a:r>
              <a:rPr lang="en-US" sz="1250" dirty="0">
                <a:solidFill>
                  <a:srgbClr val="5B6472"/>
                </a:solidFill>
                <a:latin typeface="Georgia"/>
              </a:rPr>
              <a:t>require any update/re-deployment in </a:t>
            </a:r>
            <a:r>
              <a:rPr lang="en-US" sz="1250" b="0" i="0" dirty="0">
                <a:solidFill>
                  <a:srgbClr val="5B6472"/>
                </a:solidFill>
                <a:latin typeface="Georgia"/>
              </a:rPr>
              <a:t>the ENFORCEMENT layer</a:t>
            </a:r>
            <a:endParaRPr sz="1250" b="0" i="0" dirty="0">
              <a:solidFill>
                <a:srgbClr val="5B6472"/>
              </a:solidFill>
              <a:latin typeface="Georgi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CF6B60-5F04-4EF7-3D50-3E1527113FA6}"/>
              </a:ext>
            </a:extLst>
          </p:cNvPr>
          <p:cNvSpPr txBox="1"/>
          <p:nvPr/>
        </p:nvSpPr>
        <p:spPr>
          <a:xfrm>
            <a:off x="640080" y="365760"/>
            <a:ext cx="10515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b="1" kern="0" spc="133" dirty="0">
                <a:solidFill>
                  <a:srgbClr val="1CA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STRICT THREE-LAYER MODEL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21664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3" name="Shape 1"/>
          <p:cNvSpPr/>
          <p:nvPr/>
        </p:nvSpPr>
        <p:spPr>
          <a:xfrm>
            <a:off x="0" y="1121664"/>
            <a:ext cx="12192000" cy="54864"/>
          </a:xfrm>
          <a:prstGeom prst="rect">
            <a:avLst/>
          </a:prstGeom>
          <a:solidFill>
            <a:srgbClr val="1CA9A6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4" name="Text 2"/>
          <p:cNvSpPr/>
          <p:nvPr/>
        </p:nvSpPr>
        <p:spPr>
          <a:xfrm>
            <a:off x="609600" y="146304"/>
            <a:ext cx="109728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kern="0" spc="133" dirty="0">
                <a:solidFill>
                  <a:srgbClr val="1CA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FLOW, ONE EXAMPLE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487680"/>
            <a:ext cx="10972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09600" y="6486144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AIAC — AI-Based Access Control</a:t>
            </a:r>
            <a:endParaRPr lang="en-US" sz="1067" dirty="0"/>
          </a:p>
        </p:txBody>
      </p:sp>
      <p:sp>
        <p:nvSpPr>
          <p:cNvPr id="7" name="Text 5"/>
          <p:cNvSpPr/>
          <p:nvPr/>
        </p:nvSpPr>
        <p:spPr>
          <a:xfrm>
            <a:off x="11094720" y="6486144"/>
            <a:ext cx="4876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67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9</a:t>
            </a:r>
            <a:endParaRPr lang="en-US" sz="1067" dirty="0"/>
          </a:p>
        </p:txBody>
      </p:sp>
      <p:sp>
        <p:nvSpPr>
          <p:cNvPr id="8" name="Text 6"/>
          <p:cNvSpPr/>
          <p:nvPr/>
        </p:nvSpPr>
        <p:spPr>
          <a:xfrm>
            <a:off x="609600" y="1341120"/>
            <a:ext cx="109728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 new AI agent is onboarded onto the platform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" y="1975104"/>
            <a:ext cx="512064" cy="512064"/>
          </a:xfrm>
          <a:prstGeom prst="ellipse">
            <a:avLst/>
          </a:prstGeom>
          <a:solidFill>
            <a:srgbClr val="1CA9A6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10" name="Text 8"/>
          <p:cNvSpPr/>
          <p:nvPr/>
        </p:nvSpPr>
        <p:spPr>
          <a:xfrm>
            <a:off x="609600" y="197510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67" dirty="0"/>
          </a:p>
        </p:txBody>
      </p:sp>
      <p:sp>
        <p:nvSpPr>
          <p:cNvPr id="11" name="Shape 9"/>
          <p:cNvSpPr/>
          <p:nvPr/>
        </p:nvSpPr>
        <p:spPr>
          <a:xfrm>
            <a:off x="609600" y="2657856"/>
            <a:ext cx="2584704" cy="2621280"/>
          </a:xfrm>
          <a:prstGeom prst="rect">
            <a:avLst/>
          </a:prstGeom>
          <a:solidFill>
            <a:srgbClr val="F4F7FB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L" sz="2400"/>
          </a:p>
        </p:txBody>
      </p:sp>
      <p:sp>
        <p:nvSpPr>
          <p:cNvPr id="12" name="Text 10"/>
          <p:cNvSpPr/>
          <p:nvPr/>
        </p:nvSpPr>
        <p:spPr>
          <a:xfrm>
            <a:off x="829056" y="2804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detected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9056" y="3194304"/>
            <a:ext cx="2194560" cy="1962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agent / service / role is registered in the identity provider.</a:t>
            </a:r>
            <a:endParaRPr lang="en-US" sz="1267" dirty="0"/>
          </a:p>
        </p:txBody>
      </p:sp>
      <p:sp>
        <p:nvSpPr>
          <p:cNvPr id="14" name="Shape 12"/>
          <p:cNvSpPr/>
          <p:nvPr/>
        </p:nvSpPr>
        <p:spPr>
          <a:xfrm>
            <a:off x="3218688" y="2231136"/>
            <a:ext cx="1219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L" sz="2400"/>
          </a:p>
        </p:txBody>
      </p:sp>
      <p:sp>
        <p:nvSpPr>
          <p:cNvPr id="15" name="Shape 13"/>
          <p:cNvSpPr/>
          <p:nvPr/>
        </p:nvSpPr>
        <p:spPr>
          <a:xfrm>
            <a:off x="3364992" y="1975104"/>
            <a:ext cx="512064" cy="512064"/>
          </a:xfrm>
          <a:prstGeom prst="ellipse">
            <a:avLst/>
          </a:prstGeom>
          <a:solidFill>
            <a:srgbClr val="1CA9A6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16" name="Text 14"/>
          <p:cNvSpPr/>
          <p:nvPr/>
        </p:nvSpPr>
        <p:spPr>
          <a:xfrm>
            <a:off x="3364992" y="197510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67" dirty="0"/>
          </a:p>
        </p:txBody>
      </p:sp>
      <p:sp>
        <p:nvSpPr>
          <p:cNvPr id="17" name="Shape 15"/>
          <p:cNvSpPr/>
          <p:nvPr/>
        </p:nvSpPr>
        <p:spPr>
          <a:xfrm>
            <a:off x="3364992" y="2657856"/>
            <a:ext cx="2584704" cy="2621280"/>
          </a:xfrm>
          <a:prstGeom prst="rect">
            <a:avLst/>
          </a:prstGeom>
          <a:solidFill>
            <a:srgbClr val="F4F7FB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L" sz="2400"/>
          </a:p>
        </p:txBody>
      </p:sp>
      <p:sp>
        <p:nvSpPr>
          <p:cNvPr id="18" name="Text 16"/>
          <p:cNvSpPr/>
          <p:nvPr/>
        </p:nvSpPr>
        <p:spPr>
          <a:xfrm>
            <a:off x="3584448" y="2804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retrieved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84448" y="3194304"/>
            <a:ext cx="2194560" cy="1962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AIAC reads the current written policy and the live permission state.</a:t>
            </a:r>
            <a:endParaRPr lang="en-US" sz="1267" dirty="0"/>
          </a:p>
        </p:txBody>
      </p:sp>
      <p:sp>
        <p:nvSpPr>
          <p:cNvPr id="20" name="Shape 18"/>
          <p:cNvSpPr/>
          <p:nvPr/>
        </p:nvSpPr>
        <p:spPr>
          <a:xfrm>
            <a:off x="5974080" y="2231136"/>
            <a:ext cx="1219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L" sz="2400"/>
          </a:p>
        </p:txBody>
      </p:sp>
      <p:sp>
        <p:nvSpPr>
          <p:cNvPr id="21" name="Shape 19"/>
          <p:cNvSpPr/>
          <p:nvPr/>
        </p:nvSpPr>
        <p:spPr>
          <a:xfrm>
            <a:off x="6120384" y="1975104"/>
            <a:ext cx="512064" cy="512064"/>
          </a:xfrm>
          <a:prstGeom prst="ellipse">
            <a:avLst/>
          </a:prstGeom>
          <a:solidFill>
            <a:srgbClr val="1CA9A6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22" name="Text 20"/>
          <p:cNvSpPr/>
          <p:nvPr/>
        </p:nvSpPr>
        <p:spPr>
          <a:xfrm>
            <a:off x="6120384" y="197510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67" dirty="0"/>
          </a:p>
        </p:txBody>
      </p:sp>
      <p:sp>
        <p:nvSpPr>
          <p:cNvPr id="23" name="Shape 21"/>
          <p:cNvSpPr/>
          <p:nvPr/>
        </p:nvSpPr>
        <p:spPr>
          <a:xfrm>
            <a:off x="6120384" y="2657856"/>
            <a:ext cx="2584704" cy="2621280"/>
          </a:xfrm>
          <a:prstGeom prst="rect">
            <a:avLst/>
          </a:prstGeom>
          <a:solidFill>
            <a:srgbClr val="F4F7FB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L" sz="2400"/>
          </a:p>
        </p:txBody>
      </p:sp>
      <p:sp>
        <p:nvSpPr>
          <p:cNvPr id="24" name="Text 22"/>
          <p:cNvSpPr/>
          <p:nvPr/>
        </p:nvSpPr>
        <p:spPr>
          <a:xfrm>
            <a:off x="6339840" y="2804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diff computed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39840" y="3194304"/>
            <a:ext cx="2194560" cy="1962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computes exactly the new access needed — and validates it against policy in a second pass.</a:t>
            </a:r>
            <a:endParaRPr lang="en-US" sz="1267" dirty="0"/>
          </a:p>
        </p:txBody>
      </p:sp>
      <p:sp>
        <p:nvSpPr>
          <p:cNvPr id="26" name="Shape 24"/>
          <p:cNvSpPr/>
          <p:nvPr/>
        </p:nvSpPr>
        <p:spPr>
          <a:xfrm>
            <a:off x="8729472" y="2231136"/>
            <a:ext cx="1219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L" sz="2400"/>
          </a:p>
        </p:txBody>
      </p:sp>
      <p:sp>
        <p:nvSpPr>
          <p:cNvPr id="27" name="Shape 25"/>
          <p:cNvSpPr/>
          <p:nvPr/>
        </p:nvSpPr>
        <p:spPr>
          <a:xfrm>
            <a:off x="8875776" y="1975104"/>
            <a:ext cx="512064" cy="512064"/>
          </a:xfrm>
          <a:prstGeom prst="ellipse">
            <a:avLst/>
          </a:prstGeom>
          <a:solidFill>
            <a:srgbClr val="1CA9A6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28" name="Text 26"/>
          <p:cNvSpPr/>
          <p:nvPr/>
        </p:nvSpPr>
        <p:spPr>
          <a:xfrm>
            <a:off x="8875776" y="197510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67" dirty="0"/>
          </a:p>
        </p:txBody>
      </p:sp>
      <p:sp>
        <p:nvSpPr>
          <p:cNvPr id="29" name="Shape 27"/>
          <p:cNvSpPr/>
          <p:nvPr/>
        </p:nvSpPr>
        <p:spPr>
          <a:xfrm>
            <a:off x="8875776" y="2657856"/>
            <a:ext cx="2584704" cy="2621280"/>
          </a:xfrm>
          <a:prstGeom prst="rect">
            <a:avLst/>
          </a:prstGeom>
          <a:solidFill>
            <a:srgbClr val="F4F7FB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L" sz="2400"/>
          </a:p>
        </p:txBody>
      </p:sp>
      <p:sp>
        <p:nvSpPr>
          <p:cNvPr id="30" name="Text 28"/>
          <p:cNvSpPr/>
          <p:nvPr/>
        </p:nvSpPr>
        <p:spPr>
          <a:xfrm>
            <a:off x="9095232" y="2804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automatically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095232" y="3194304"/>
            <a:ext cx="2194560" cy="1962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layer is updated immediately — least-privilege, no human step required.</a:t>
            </a:r>
            <a:endParaRPr lang="en-US" sz="1267" dirty="0"/>
          </a:p>
        </p:txBody>
      </p:sp>
      <p:sp>
        <p:nvSpPr>
          <p:cNvPr id="32" name="Shape 30"/>
          <p:cNvSpPr/>
          <p:nvPr/>
        </p:nvSpPr>
        <p:spPr>
          <a:xfrm>
            <a:off x="609600" y="5486400"/>
            <a:ext cx="10972800" cy="82905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L" sz="2400"/>
          </a:p>
        </p:txBody>
      </p:sp>
      <p:sp>
        <p:nvSpPr>
          <p:cNvPr id="33" name="Shape 31"/>
          <p:cNvSpPr/>
          <p:nvPr/>
        </p:nvSpPr>
        <p:spPr>
          <a:xfrm>
            <a:off x="609600" y="5486400"/>
            <a:ext cx="73152" cy="829056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34" name="Text 32"/>
          <p:cNvSpPr/>
          <p:nvPr/>
        </p:nvSpPr>
        <p:spPr>
          <a:xfrm>
            <a:off x="829056" y="5632704"/>
            <a:ext cx="10582656" cy="56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the new agent gets exactly the access it needs, the moment it needs it — with a full record of why.</a:t>
            </a:r>
            <a:endParaRPr lang="en-US" sz="1267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21664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3" name="Shape 1"/>
          <p:cNvSpPr/>
          <p:nvPr/>
        </p:nvSpPr>
        <p:spPr>
          <a:xfrm>
            <a:off x="0" y="1121664"/>
            <a:ext cx="12192000" cy="54864"/>
          </a:xfrm>
          <a:prstGeom prst="rect">
            <a:avLst/>
          </a:prstGeom>
          <a:solidFill>
            <a:srgbClr val="1CA9A6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4" name="Text 2"/>
          <p:cNvSpPr/>
          <p:nvPr/>
        </p:nvSpPr>
        <p:spPr>
          <a:xfrm>
            <a:off x="609600" y="146304"/>
            <a:ext cx="109728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kern="0" spc="133" dirty="0">
                <a:solidFill>
                  <a:srgbClr val="1CA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487680"/>
            <a:ext cx="10972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Bottom Line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09600" y="6486144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AIAC — AI-Based Access Control</a:t>
            </a:r>
            <a:endParaRPr lang="en-US" sz="1067" dirty="0"/>
          </a:p>
        </p:txBody>
      </p:sp>
      <p:sp>
        <p:nvSpPr>
          <p:cNvPr id="7" name="Text 5"/>
          <p:cNvSpPr/>
          <p:nvPr/>
        </p:nvSpPr>
        <p:spPr>
          <a:xfrm>
            <a:off x="11094720" y="6486144"/>
            <a:ext cx="4876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67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9</a:t>
            </a:r>
            <a:endParaRPr lang="en-US" sz="1067" dirty="0"/>
          </a:p>
        </p:txBody>
      </p:sp>
      <p:sp>
        <p:nvSpPr>
          <p:cNvPr id="8" name="Shape 6"/>
          <p:cNvSpPr/>
          <p:nvPr/>
        </p:nvSpPr>
        <p:spPr>
          <a:xfrm>
            <a:off x="609600" y="1645920"/>
            <a:ext cx="5303520" cy="2072640"/>
          </a:xfrm>
          <a:prstGeom prst="rect">
            <a:avLst/>
          </a:prstGeom>
          <a:solidFill>
            <a:srgbClr val="F4F7FB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L" sz="2400"/>
          </a:p>
        </p:txBody>
      </p:sp>
      <p:sp>
        <p:nvSpPr>
          <p:cNvPr id="9" name="Shape 7"/>
          <p:cNvSpPr/>
          <p:nvPr/>
        </p:nvSpPr>
        <p:spPr>
          <a:xfrm>
            <a:off x="609600" y="1645920"/>
            <a:ext cx="73152" cy="2072640"/>
          </a:xfrm>
          <a:prstGeom prst="rect">
            <a:avLst/>
          </a:prstGeom>
          <a:solidFill>
            <a:srgbClr val="1CA9A6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10" name="Text 8"/>
          <p:cNvSpPr/>
          <p:nvPr/>
        </p:nvSpPr>
        <p:spPr>
          <a:xfrm>
            <a:off x="829056" y="1792224"/>
            <a:ext cx="4913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policy drift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9056" y="2182368"/>
            <a:ext cx="4913376" cy="1414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permissions stay correct automatically as the agent fleet grows — no lag between onboarding and permissioning.</a:t>
            </a:r>
            <a:endParaRPr lang="en-US" sz="1267" dirty="0"/>
          </a:p>
        </p:txBody>
      </p:sp>
      <p:sp>
        <p:nvSpPr>
          <p:cNvPr id="12" name="Shape 10"/>
          <p:cNvSpPr/>
          <p:nvPr/>
        </p:nvSpPr>
        <p:spPr>
          <a:xfrm>
            <a:off x="6096000" y="1645920"/>
            <a:ext cx="5303520" cy="2072640"/>
          </a:xfrm>
          <a:prstGeom prst="rect">
            <a:avLst/>
          </a:prstGeom>
          <a:solidFill>
            <a:srgbClr val="F4F7FB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L" sz="2400"/>
          </a:p>
        </p:txBody>
      </p:sp>
      <p:sp>
        <p:nvSpPr>
          <p:cNvPr id="13" name="Shape 11"/>
          <p:cNvSpPr/>
          <p:nvPr/>
        </p:nvSpPr>
        <p:spPr>
          <a:xfrm>
            <a:off x="6096000" y="1645920"/>
            <a:ext cx="73152" cy="2072640"/>
          </a:xfrm>
          <a:prstGeom prst="rect">
            <a:avLst/>
          </a:prstGeom>
          <a:solidFill>
            <a:srgbClr val="1CA9A6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14" name="Text 12"/>
          <p:cNvSpPr/>
          <p:nvPr/>
        </p:nvSpPr>
        <p:spPr>
          <a:xfrm>
            <a:off x="6315456" y="1792224"/>
            <a:ext cx="4913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manual toil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15456" y="2182368"/>
            <a:ext cx="4913376" cy="1414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used to require ongoing human administration is now computed and applied by the platform itself.</a:t>
            </a:r>
            <a:endParaRPr lang="en-US" sz="1267" dirty="0"/>
          </a:p>
        </p:txBody>
      </p:sp>
      <p:sp>
        <p:nvSpPr>
          <p:cNvPr id="16" name="Shape 14"/>
          <p:cNvSpPr/>
          <p:nvPr/>
        </p:nvSpPr>
        <p:spPr>
          <a:xfrm>
            <a:off x="609600" y="3901440"/>
            <a:ext cx="5303520" cy="2072640"/>
          </a:xfrm>
          <a:prstGeom prst="rect">
            <a:avLst/>
          </a:prstGeom>
          <a:solidFill>
            <a:srgbClr val="F4F7FB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L" sz="2400"/>
          </a:p>
        </p:txBody>
      </p:sp>
      <p:sp>
        <p:nvSpPr>
          <p:cNvPr id="17" name="Shape 15"/>
          <p:cNvSpPr/>
          <p:nvPr/>
        </p:nvSpPr>
        <p:spPr>
          <a:xfrm>
            <a:off x="609600" y="3901440"/>
            <a:ext cx="73152" cy="2072640"/>
          </a:xfrm>
          <a:prstGeom prst="rect">
            <a:avLst/>
          </a:prstGeom>
          <a:solidFill>
            <a:srgbClr val="1CA9A6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18" name="Text 16"/>
          <p:cNvSpPr/>
          <p:nvPr/>
        </p:nvSpPr>
        <p:spPr>
          <a:xfrm>
            <a:off x="829056" y="4047744"/>
            <a:ext cx="4913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an audit trail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9056" y="4437888"/>
            <a:ext cx="4913376" cy="1414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access decision is traceable to the written policy that authorized it — supporting compliance and review.</a:t>
            </a:r>
            <a:endParaRPr lang="en-US" sz="1267" dirty="0"/>
          </a:p>
        </p:txBody>
      </p:sp>
      <p:sp>
        <p:nvSpPr>
          <p:cNvPr id="20" name="Shape 18"/>
          <p:cNvSpPr/>
          <p:nvPr/>
        </p:nvSpPr>
        <p:spPr>
          <a:xfrm>
            <a:off x="6096000" y="3901440"/>
            <a:ext cx="5303520" cy="2072640"/>
          </a:xfrm>
          <a:prstGeom prst="rect">
            <a:avLst/>
          </a:prstGeom>
          <a:solidFill>
            <a:srgbClr val="F4F7FB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L" sz="2400"/>
          </a:p>
        </p:txBody>
      </p:sp>
      <p:sp>
        <p:nvSpPr>
          <p:cNvPr id="21" name="Shape 19"/>
          <p:cNvSpPr/>
          <p:nvPr/>
        </p:nvSpPr>
        <p:spPr>
          <a:xfrm>
            <a:off x="6096000" y="3901440"/>
            <a:ext cx="73152" cy="2072640"/>
          </a:xfrm>
          <a:prstGeom prst="rect">
            <a:avLst/>
          </a:prstGeom>
          <a:solidFill>
            <a:srgbClr val="1CA9A6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22" name="Text 20"/>
          <p:cNvSpPr/>
          <p:nvPr/>
        </p:nvSpPr>
        <p:spPr>
          <a:xfrm>
            <a:off x="6315456" y="4047744"/>
            <a:ext cx="4913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with the platform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15456" y="4437888"/>
            <a:ext cx="4913376" cy="1414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Kagenti onboards more AI agents and services, AIAC keeps access control correct without added headcount.</a:t>
            </a:r>
            <a:endParaRPr lang="en-US" sz="1267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17320" y="320040"/>
            <a:ext cx="98755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 dirty="0">
                <a:solidFill>
                  <a:srgbClr val="5B6472"/>
                </a:solidFill>
                <a:latin typeface="Arial Narrow"/>
              </a:rPr>
              <a:t>WHERE POLICY COMES FROM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 i="0" dirty="0">
                <a:solidFill>
                  <a:srgbClr val="14181F"/>
                </a:solidFill>
                <a:latin typeface="Arial Narrow"/>
              </a:rPr>
              <a:t>Policy is a document, not a config file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6916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 i="0">
                <a:solidFill>
                  <a:srgbClr val="2A2F3A"/>
                </a:solidFill>
                <a:latin typeface="Georgia"/>
              </a:rPr>
              <a:t>AIAC doesn't invent policy — it reads it. The input is natural-language text: a plain statement of intent, written and owned by whoever sets access policy for the organization.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34640"/>
            <a:ext cx="2331720" cy="105156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C3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2999232"/>
            <a:ext cx="2002536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5B6472"/>
                </a:solidFill>
                <a:latin typeface="Arial Narrow"/>
              </a:rPr>
              <a:t>WRITTEN OR PRODUCED UPSTREAM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4181F"/>
                </a:solidFill>
                <a:latin typeface="Arial Narrow"/>
              </a:rPr>
              <a:t>Policy document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44952" y="3360420"/>
            <a:ext cx="356616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74720" y="2834640"/>
            <a:ext cx="2331720" cy="105156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C3BCA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9312" y="2999232"/>
            <a:ext cx="2002536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5B6472"/>
                </a:solidFill>
                <a:latin typeface="Arial Narrow"/>
              </a:rPr>
              <a:t>INGESTED AS TEXT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4181F"/>
                </a:solidFill>
                <a:latin typeface="Arial Narrow"/>
              </a:rPr>
              <a:t>Knowledge base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79592" y="3360420"/>
            <a:ext cx="356616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09360" y="2834640"/>
            <a:ext cx="2331720" cy="105156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C3BCA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2999232"/>
            <a:ext cx="2002536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5B6472"/>
                </a:solidFill>
                <a:latin typeface="Arial Narrow"/>
              </a:rPr>
              <a:t>READ ON EVERY TRIGGER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4181F"/>
                </a:solidFill>
                <a:latin typeface="Arial Narrow"/>
              </a:rPr>
              <a:t>AIAC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14232" y="3360420"/>
            <a:ext cx="356616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0" y="2834640"/>
            <a:ext cx="2331720" cy="105156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C3BCA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08592" y="2999232"/>
            <a:ext cx="2002536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5B6472"/>
                </a:solidFill>
                <a:latin typeface="Arial Narrow"/>
              </a:rPr>
              <a:t>KEPT IN SYNC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4181F"/>
                </a:solidFill>
                <a:latin typeface="Arial Narrow"/>
              </a:rPr>
              <a:t>Live rules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34840"/>
            <a:ext cx="27940" cy="1737360"/>
          </a:xfrm>
          <a:prstGeom prst="rect">
            <a:avLst/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434840"/>
            <a:ext cx="108813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B6472"/>
                </a:solidFill>
                <a:latin typeface="Georgia"/>
              </a:rPr>
              <a:t>It doesn't matter whether that document was hand-written by a policy owner, exported from a governance review, or produced by a separate risk-mapping process upstream — AIAC's input slot is a plain-language policy statement. </a:t>
            </a:r>
            <a:r>
              <a:rPr sz="1300" b="1" i="0">
                <a:solidFill>
                  <a:srgbClr val="2A2F3A"/>
                </a:solidFill>
                <a:latin typeface="Georgia"/>
              </a:rPr>
              <a:t>Whatever decided the policy is a separate concern from what keeps it enforced.</a:t>
            </a:r>
            <a:r>
              <a:rPr sz="1300" b="0" i="0">
                <a:solidFill>
                  <a:srgbClr val="5B6472"/>
                </a:solidFill>
                <a:latin typeface="Georgia"/>
              </a:rPr>
              <a:t> That's a deliberate seam, not a limitation: it's what lets AIAC sit downstream of whatever governance process an organization already runs, without AIAC needing to know anything about how that process 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2977</TotalTime>
  <Words>2922</Words>
  <Application>Microsoft Macintosh PowerPoint</Application>
  <PresentationFormat>Widescreen</PresentationFormat>
  <Paragraphs>444</Paragraphs>
  <Slides>27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Arial</vt:lpstr>
      <vt:lpstr>Arial Narrow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OMER BOEHM</cp:lastModifiedBy>
  <cp:revision>184</cp:revision>
  <dcterms:created xsi:type="dcterms:W3CDTF">2013-01-27T09:14:16Z</dcterms:created>
  <dcterms:modified xsi:type="dcterms:W3CDTF">2026-08-18T07:21:00Z</dcterms:modified>
  <cp:category/>
</cp:coreProperties>
</file>